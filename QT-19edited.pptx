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6" r:id="rId41"/>
    <p:sldId id="297" r:id="rId42"/>
    <p:sldId id="298" r:id="rId43"/>
    <p:sldId id="299" r:id="rId44"/>
    <p:sldId id="300" r:id="rId45"/>
    <p:sldId id="301" r:id="rId46"/>
    <p:sldId id="302" r:id="rId47"/>
    <p:sldId id="303" r:id="rId48"/>
    <p:sldId id="304" r:id="rId49"/>
    <p:sldId id="305" r:id="rId50"/>
    <p:sldId id="306" r:id="rId51"/>
    <p:sldId id="307" r:id="rId52"/>
    <p:sldId id="308" r:id="rId53"/>
    <p:sldId id="309" r:id="rId54"/>
    <p:sldId id="310" r:id="rId55"/>
    <p:sldId id="311" r:id="rId5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10"/>
  </p:normalViewPr>
  <p:slideViewPr>
    <p:cSldViewPr snapToGrid="0" snapToObjects="1">
      <p:cViewPr varScale="1">
        <p:scale>
          <a:sx n="95" d="100"/>
          <a:sy n="95" d="100"/>
        </p:scale>
        <p:origin x="163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presProps" Target="presProps.xml"/><Relationship Id="rId5" Type="http://schemas.openxmlformats.org/officeDocument/2006/relationships/slide" Target="slides/slide4.xml"/><Relationship Id="rId61" Type="http://schemas.openxmlformats.org/officeDocument/2006/relationships/tableStyles" Target="tableStyle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269284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1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1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1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1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52144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3B8"/>
                </a:solidFill>
              </a:rPr>
              <a:t>01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526"/>
          </a:solidFill>
          <a:ln/>
        </p:spPr>
      </p:sp>
      <p:sp>
        <p:nvSpPr>
          <p:cNvPr id="4" name="Shape 2"/>
          <p:cNvSpPr/>
          <p:nvPr/>
        </p:nvSpPr>
        <p:spPr>
          <a:xfrm>
            <a:off x="8686800" y="731520"/>
            <a:ext cx="2926080" cy="2926080"/>
          </a:xfrm>
          <a:prstGeom prst="ellipse">
            <a:avLst/>
          </a:prstGeom>
          <a:solidFill>
            <a:srgbClr val="4FE3D0">
              <a:alpha val="12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9601200" y="1645920"/>
            <a:ext cx="1280160" cy="1280160"/>
          </a:xfrm>
          <a:prstGeom prst="ellipse">
            <a:avLst/>
          </a:prstGeom>
          <a:solidFill>
            <a:srgbClr val="8B7FE8">
              <a:alpha val="70000"/>
            </a:srgbClr>
          </a:solidFill>
          <a:ln w="19050">
            <a:solidFill>
              <a:srgbClr val="4FE3D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2801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8B7FE8"/>
                </a:solidFill>
              </a:rPr>
              <a:t>RIT QUANT-A-THON 2026  ·  PROBLEM QT-1.6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31520" y="1737360"/>
            <a:ext cx="96012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2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Simulating Quantum Entanglement</a:t>
            </a:r>
            <a:endParaRPr lang="en-US" sz="3800" dirty="0"/>
          </a:p>
          <a:p>
            <a:pPr marL="0" indent="0">
              <a:buNone/>
            </a:pPr>
            <a:r>
              <a:rPr lang="en-US" sz="3800" b="1" dirty="0">
                <a:solidFill>
                  <a:srgbClr val="F2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&amp; Correlation Statistics</a:t>
            </a:r>
            <a:endParaRPr lang="en-US" sz="3800" dirty="0"/>
          </a:p>
        </p:txBody>
      </p:sp>
      <p:sp>
        <p:nvSpPr>
          <p:cNvPr id="8" name="Text 6"/>
          <p:cNvSpPr/>
          <p:nvPr/>
        </p:nvSpPr>
        <p:spPr>
          <a:xfrm>
            <a:off x="731520" y="3566160"/>
            <a:ext cx="7772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9AA3B8"/>
                </a:solidFill>
              </a:rPr>
              <a:t>A first-principles walkthrough of every concept behind the EntanglementLab pipeline — built to defend the project confidently in front of judges.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31520" y="457200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4FE3D0"/>
                </a:solidFill>
              </a:rPr>
              <a:t>|Φ⁺⟩ = (|00⟩ + |11⟩) / √2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731520" y="5212080"/>
            <a:ext cx="3291840" cy="1005840"/>
          </a:xfrm>
          <a:prstGeom prst="roundRect">
            <a:avLst>
              <a:gd name="adj" fmla="val 7273"/>
            </a:avLst>
          </a:prstGeom>
          <a:solidFill>
            <a:srgbClr val="141B30"/>
          </a:solidFill>
          <a:ln w="12700">
            <a:solidFill>
              <a:srgbClr val="1F274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5257800"/>
            <a:ext cx="3291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4FE3D0"/>
                </a:solidFill>
              </a:rPr>
              <a:t>S = 2.8545
</a:t>
            </a:r>
            <a:r>
              <a:rPr lang="en-US" sz="1100" dirty="0">
                <a:solidFill>
                  <a:srgbClr val="9AA3B8"/>
                </a:solidFill>
              </a:rPr>
              <a:t>measured CHSH value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4206240" y="5212080"/>
            <a:ext cx="3291840" cy="1005840"/>
          </a:xfrm>
          <a:prstGeom prst="roundRect">
            <a:avLst>
              <a:gd name="adj" fmla="val 7273"/>
            </a:avLst>
          </a:prstGeom>
          <a:solidFill>
            <a:srgbClr val="141B30"/>
          </a:solidFill>
          <a:ln w="12700">
            <a:solidFill>
              <a:srgbClr val="1F274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206240" y="5257800"/>
            <a:ext cx="3291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8B7FE8"/>
                </a:solidFill>
              </a:rPr>
              <a:t>1.0 → 0.1466
</a:t>
            </a:r>
            <a:r>
              <a:rPr lang="en-US" sz="1100" dirty="0">
                <a:solidFill>
                  <a:srgbClr val="9AA3B8"/>
                </a:solidFill>
              </a:rPr>
              <a:t>concurrence decay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7680960" y="5212080"/>
            <a:ext cx="3291840" cy="1005840"/>
          </a:xfrm>
          <a:prstGeom prst="roundRect">
            <a:avLst>
              <a:gd name="adj" fmla="val 7273"/>
            </a:avLst>
          </a:prstGeom>
          <a:solidFill>
            <a:srgbClr val="141B30"/>
          </a:solidFill>
          <a:ln w="12700">
            <a:solidFill>
              <a:srgbClr val="1F274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680960" y="5257800"/>
            <a:ext cx="3291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2B84B"/>
                </a:solidFill>
              </a:rPr>
              <a:t>20,000
</a:t>
            </a:r>
            <a:r>
              <a:rPr lang="en-US" sz="1100" dirty="0">
                <a:solidFill>
                  <a:srgbClr val="9AA3B8"/>
                </a:solidFill>
              </a:rPr>
              <a:t>Monte Carlo trials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52144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3B8"/>
                </a:solidFill>
              </a:rPr>
              <a:t>02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22860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8B7F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1 · FUNDAMENTALS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2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Quantum Computing?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1554480"/>
            <a:ext cx="548640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500" dirty="0">
                <a:solidFill>
                  <a:srgbClr val="F2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Classical bits are deterministic: 0 or 1, nothing in between.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500" dirty="0">
                <a:solidFill>
                  <a:srgbClr val="F2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Some physical correlations — the ones in this project — cannot be reproduced by any classical model, no matter how it's programmed.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500" dirty="0">
                <a:solidFill>
                  <a:srgbClr val="F2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Quantum computers exploit superposition and entanglement to represent and manipulate these correlations directly.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500" dirty="0">
                <a:solidFill>
                  <a:srgbClr val="F2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QT-1.6 is a demonstration that this isn't philosophy — it's a measurable, reproducible number (S = 2.85) that beats the classical limit of 2.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492240" y="1554480"/>
            <a:ext cx="5120640" cy="4206240"/>
          </a:xfrm>
          <a:prstGeom prst="roundRect">
            <a:avLst>
              <a:gd name="adj" fmla="val 1739"/>
            </a:avLst>
          </a:prstGeom>
          <a:solidFill>
            <a:srgbClr val="0F1526"/>
          </a:solidFill>
          <a:ln w="12700">
            <a:solidFill>
              <a:srgbClr val="1F274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766560" y="17830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AA3B8"/>
                </a:solidFill>
              </a:rPr>
              <a:t>The core claim this deck defends: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766560" y="2194560"/>
            <a:ext cx="457200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F2F4F8"/>
                </a:solidFill>
              </a:rPr>
              <a:t>Two qubits can be correlated more strongly than any classical hidden-variable system allows — and that extra correlation is exactly what QT-1.6 measures, degrades with noise, and puts to work in a detector.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52144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3B8"/>
                </a:solidFill>
              </a:rPr>
              <a:t>03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22860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8B7F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1 · FUNDAMENTALS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2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Classical Bit vs. Qubit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645920"/>
            <a:ext cx="5212080" cy="4023360"/>
          </a:xfrm>
          <a:prstGeom prst="roundRect">
            <a:avLst>
              <a:gd name="adj" fmla="val 1818"/>
            </a:avLst>
          </a:prstGeom>
          <a:solidFill>
            <a:srgbClr val="141B30"/>
          </a:solidFill>
          <a:ln w="12700">
            <a:solidFill>
              <a:srgbClr val="1F274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18288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9AA3B8"/>
                </a:solidFill>
              </a:rPr>
              <a:t>Classical Bit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22960" y="2286000"/>
            <a:ext cx="466344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400" dirty="0">
                <a:solidFill>
                  <a:srgbClr val="F2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Exactly 0 or exactly 1</a:t>
            </a:r>
            <a:endParaRPr lang="en-US" sz="1400" dirty="0"/>
          </a:p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400" dirty="0">
                <a:solidFill>
                  <a:srgbClr val="F2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Reading it never changes it</a:t>
            </a:r>
            <a:endParaRPr lang="en-US" sz="1400" dirty="0"/>
          </a:p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400" dirty="0">
                <a:solidFill>
                  <a:srgbClr val="F2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 bits store 1 of 2ᴺ states at a time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309360" y="1645920"/>
            <a:ext cx="5303520" cy="4023360"/>
          </a:xfrm>
          <a:prstGeom prst="roundRect">
            <a:avLst>
              <a:gd name="adj" fmla="val 1818"/>
            </a:avLst>
          </a:prstGeom>
          <a:solidFill>
            <a:srgbClr val="141B30"/>
          </a:solidFill>
          <a:ln w="12700">
            <a:solidFill>
              <a:srgbClr val="1F274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83680" y="18288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4FE3D0"/>
                </a:solidFill>
              </a:rPr>
              <a:t>Qubit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583680" y="2286000"/>
            <a:ext cx="484632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i="1" dirty="0">
                <a:solidFill>
                  <a:srgbClr val="4FE3D0"/>
                </a:solidFill>
              </a:rPr>
              <a:t>|ψ⟩ = α|0⟩ + β|1⟩,  |α|² + |β|² = 1
</a:t>
            </a:r>
            <a:endParaRPr lang="en-US" sz="1500" dirty="0"/>
          </a:p>
          <a:p>
            <a:pPr marL="0" indent="0">
              <a:buNone/>
            </a:pPr>
            <a:r>
              <a:rPr lang="en-US" sz="1400" dirty="0">
                <a:solidFill>
                  <a:srgbClr val="F2F4F8"/>
                </a:solidFill>
              </a:rPr>
              <a:t>• Holds a weighted combination of 0 and 1 until measured
</a:t>
            </a:r>
            <a:endParaRPr lang="en-US" sz="1500" dirty="0"/>
          </a:p>
          <a:p>
            <a:pPr marL="0" indent="0">
              <a:buNone/>
            </a:pPr>
            <a:r>
              <a:rPr lang="en-US" sz="1400" dirty="0">
                <a:solidFill>
                  <a:srgbClr val="F2F4F8"/>
                </a:solidFill>
              </a:rPr>
              <a:t>• Measurement collapses it to a definite 0 or 1, with probability |α|² or |β|²
</a:t>
            </a:r>
            <a:endParaRPr lang="en-US" sz="1500" dirty="0"/>
          </a:p>
          <a:p>
            <a:pPr marL="0" indent="0">
              <a:buNone/>
            </a:pPr>
            <a:r>
              <a:rPr lang="en-US" sz="1400" dirty="0">
                <a:solidFill>
                  <a:srgbClr val="F2F4F8"/>
                </a:solidFill>
              </a:rPr>
              <a:t>• N qubits can represent a superposition over 2ᴺ states simultaneously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52144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3B8"/>
                </a:solidFill>
              </a:rPr>
              <a:t>04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22860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8B7F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1 · FUNDAMENTALS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2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Bloch Sphere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1554480"/>
            <a:ext cx="530352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500" dirty="0">
                <a:solidFill>
                  <a:srgbClr val="F2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geometric picture of a single qubit's state as a point on (or inside) a unit sphere.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500" dirty="0">
                <a:solidFill>
                  <a:srgbClr val="F2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North pole = |0⟩, South pole = |1⟩.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500" dirty="0">
                <a:solidFill>
                  <a:srgbClr val="F2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Points on the equator are equal superpositions, like (|0⟩+|1⟩)/√2.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500" dirty="0">
                <a:solidFill>
                  <a:srgbClr val="F2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Gates are rotations of this point around the sphere.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500" dirty="0">
                <a:solidFill>
                  <a:srgbClr val="F2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QT-1.6, the Hadamard gate rotates a qubit from the north pole down to the equator — that's the superposition step before entanglement.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949440" y="1828800"/>
            <a:ext cx="3657600" cy="3657600"/>
          </a:xfrm>
          <a:prstGeom prst="ellipse">
            <a:avLst/>
          </a:prstGeom>
          <a:ln w="25400">
            <a:solidFill>
              <a:srgbClr val="4FE3D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949440" y="3017520"/>
            <a:ext cx="3657600" cy="1280160"/>
          </a:xfrm>
          <a:prstGeom prst="ellipse">
            <a:avLst/>
          </a:prstGeom>
          <a:ln w="12700">
            <a:solidFill>
              <a:srgbClr val="9AA3B8"/>
            </a:solidFill>
            <a:prstDash val="dash"/>
          </a:ln>
        </p:spPr>
      </p:sp>
      <p:sp>
        <p:nvSpPr>
          <p:cNvPr id="8" name="Shape 6"/>
          <p:cNvSpPr/>
          <p:nvPr/>
        </p:nvSpPr>
        <p:spPr>
          <a:xfrm>
            <a:off x="8778240" y="1828800"/>
            <a:ext cx="0" cy="3657600"/>
          </a:xfrm>
          <a:prstGeom prst="line">
            <a:avLst/>
          </a:prstGeom>
          <a:noFill/>
          <a:ln w="12700">
            <a:solidFill>
              <a:srgbClr val="9AA3B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412480" y="1417320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2F4F8"/>
                </a:solidFill>
              </a:rPr>
              <a:t>|0⟩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412480" y="5532120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2F4F8"/>
                </a:solidFill>
              </a:rPr>
              <a:t>|1⟩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8778240" y="3657600"/>
            <a:ext cx="1371600" cy="0"/>
          </a:xfrm>
          <a:prstGeom prst="line">
            <a:avLst/>
          </a:prstGeom>
          <a:noFill/>
          <a:ln w="25400">
            <a:solidFill>
              <a:srgbClr val="F2B84B"/>
            </a:solidFill>
            <a:prstDash val="solid"/>
            <a:tailEnd type="triangle"/>
          </a:ln>
        </p:spPr>
      </p:sp>
      <p:sp>
        <p:nvSpPr>
          <p:cNvPr id="12" name="Text 10"/>
          <p:cNvSpPr/>
          <p:nvPr/>
        </p:nvSpPr>
        <p:spPr>
          <a:xfrm>
            <a:off x="10149840" y="196596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2B84B"/>
                </a:solidFill>
              </a:rPr>
              <a:t>|ψ⟩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52144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3B8"/>
                </a:solidFill>
              </a:rPr>
              <a:t>05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22860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8B7F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1 · FUNDAMENTALS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2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Superposition — the Spinning Coin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645920"/>
            <a:ext cx="11064240" cy="1188720"/>
          </a:xfrm>
          <a:prstGeom prst="roundRect">
            <a:avLst>
              <a:gd name="adj" fmla="val 6154"/>
            </a:avLst>
          </a:prstGeom>
          <a:solidFill>
            <a:srgbClr val="0F1526"/>
          </a:solidFill>
          <a:ln w="12700">
            <a:solidFill>
              <a:srgbClr val="1F274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178308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2F4F8"/>
                </a:solidFill>
              </a:rPr>
              <a:t>A classical bit is like a coin already lying flat: heads or tails, decided. A qubit in superposition is like a coin still spinning in the air — genuinely undetermined until it lands (is measured).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48640" y="3108960"/>
            <a:ext cx="5029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i="1" dirty="0">
                <a:solidFill>
                  <a:srgbClr val="4FE3D0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|ψ⟩ = α|0⟩ + β|1⟩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48640" y="3749040"/>
            <a:ext cx="530352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500" dirty="0">
                <a:solidFill>
                  <a:srgbClr val="F2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α and β are complex amplitudes.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500" dirty="0">
                <a:solidFill>
                  <a:srgbClr val="F2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|α|² is the probability of measuring 0; |β|² is the probability of measuring 1.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500" dirty="0">
                <a:solidFill>
                  <a:srgbClr val="F2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Hadamard gate H creates the equal case: α = β = 1/√2.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500" dirty="0">
                <a:solidFill>
                  <a:srgbClr val="F2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is step one of bell_circuit() in the project: qc.h(0).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309360" y="3108960"/>
            <a:ext cx="5303520" cy="3017520"/>
          </a:xfrm>
          <a:prstGeom prst="roundRect">
            <a:avLst>
              <a:gd name="adj" fmla="val 2424"/>
            </a:avLst>
          </a:prstGeom>
          <a:solidFill>
            <a:srgbClr val="141B30"/>
          </a:solidFill>
          <a:ln w="12700">
            <a:solidFill>
              <a:srgbClr val="1F274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83680" y="3383280"/>
            <a:ext cx="475488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F2F4F8"/>
                </a:solidFill>
              </a:rPr>
              <a:t>Only measurement forces a definite outcome — before that, neither value is 'real' in the classical sense. This is not ignorance of a hidden fact; the value genuinely does not exist yet.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52144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3B8"/>
                </a:solidFill>
              </a:rPr>
              <a:t>06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22860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8B7F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1 · FUNDAMENTALS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2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Quantum Measurement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1554480"/>
            <a:ext cx="548640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500" dirty="0">
                <a:solidFill>
                  <a:srgbClr val="F2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Measurement is probabilistic and destructive: it collapses |ψ⟩ to a basis state.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500" dirty="0">
                <a:solidFill>
                  <a:srgbClr val="F2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Repeating the same circuit many times and tallying outcomes reconstructs the probabilities — this is exactly why the project runs many circuit 'shots' per data point.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500" dirty="0">
                <a:solidFill>
                  <a:srgbClr val="F2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Measuring in different bases (angles) is what the CHSH test in Module 4 relies on.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500" dirty="0">
                <a:solidFill>
                  <a:srgbClr val="F2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Born rule: P(outcome i) = |⟨i|ψ⟩|².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492240" y="1554480"/>
            <a:ext cx="5120640" cy="4114800"/>
          </a:xfrm>
          <a:prstGeom prst="roundRect">
            <a:avLst>
              <a:gd name="adj" fmla="val 1778"/>
            </a:avLst>
          </a:prstGeom>
          <a:solidFill>
            <a:srgbClr val="141B30"/>
          </a:solidFill>
          <a:ln w="12700">
            <a:solidFill>
              <a:srgbClr val="1F274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766560" y="17830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4FE3D0"/>
                </a:solidFill>
              </a:rPr>
              <a:t>Why this matters for the project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766560" y="2194560"/>
            <a:ext cx="457200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F2F4F8"/>
                </a:solidFill>
              </a:rPr>
              <a:t>Every S value, every concurrence point, and every detection-error curve in QT-1.6 is built from repeated measurement statistics on the AerSimulator — not a single shot. Noise doesn't change one measurement dramatically; it shifts the whole probability distribution slightly, which is what the smooth decay curves show.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52144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3B8"/>
                </a:solidFill>
              </a:rPr>
              <a:t>07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22860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8B7F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1 · FUNDAMENTALS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2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Quantum Gates: X, Y, Z, H, S, T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3611880" cy="1874520"/>
          </a:xfrm>
          <a:prstGeom prst="roundRect">
            <a:avLst>
              <a:gd name="adj" fmla="val 3902"/>
            </a:avLst>
          </a:prstGeom>
          <a:solidFill>
            <a:srgbClr val="141B30"/>
          </a:solidFill>
          <a:ln w="12700">
            <a:solidFill>
              <a:srgbClr val="1F274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691640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4FE3D0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X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731520" y="2377440"/>
            <a:ext cx="324612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F2F4F8"/>
                </a:solidFill>
              </a:rPr>
              <a:t>Bit-flip: |0⟩↔|1⟩. Quantum analog of NOT.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297680" y="1600200"/>
            <a:ext cx="3611880" cy="1874520"/>
          </a:xfrm>
          <a:prstGeom prst="roundRect">
            <a:avLst>
              <a:gd name="adj" fmla="val 3902"/>
            </a:avLst>
          </a:prstGeom>
          <a:solidFill>
            <a:srgbClr val="141B30"/>
          </a:solidFill>
          <a:ln w="12700">
            <a:solidFill>
              <a:srgbClr val="1F274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480560" y="1691640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4FE3D0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Y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4480560" y="2377440"/>
            <a:ext cx="324612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F2F4F8"/>
                </a:solidFill>
              </a:rPr>
              <a:t>Bit- and phase-flip combined (complex rotation).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8046720" y="1600200"/>
            <a:ext cx="3611880" cy="1874520"/>
          </a:xfrm>
          <a:prstGeom prst="roundRect">
            <a:avLst>
              <a:gd name="adj" fmla="val 3902"/>
            </a:avLst>
          </a:prstGeom>
          <a:solidFill>
            <a:srgbClr val="141B30"/>
          </a:solidFill>
          <a:ln w="12700">
            <a:solidFill>
              <a:srgbClr val="1F274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0" y="1691640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4FE3D0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Z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8229600" y="2377440"/>
            <a:ext cx="324612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F2F4F8"/>
                </a:solidFill>
              </a:rPr>
              <a:t>Phase-flip: leaves |0⟩ alone, flips sign of |1⟩.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3657600"/>
            <a:ext cx="3611880" cy="1874520"/>
          </a:xfrm>
          <a:prstGeom prst="roundRect">
            <a:avLst>
              <a:gd name="adj" fmla="val 3902"/>
            </a:avLst>
          </a:prstGeom>
          <a:solidFill>
            <a:srgbClr val="141B30"/>
          </a:solidFill>
          <a:ln w="12700">
            <a:solidFill>
              <a:srgbClr val="1F274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31520" y="3749040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4FE3D0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H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731520" y="4434840"/>
            <a:ext cx="324612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F2F4F8"/>
                </a:solidFill>
              </a:rPr>
              <a:t>Hadamard: creates equal superposition. Used first in bell_circuit().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4297680" y="3657600"/>
            <a:ext cx="3611880" cy="1874520"/>
          </a:xfrm>
          <a:prstGeom prst="roundRect">
            <a:avLst>
              <a:gd name="adj" fmla="val 3902"/>
            </a:avLst>
          </a:prstGeom>
          <a:solidFill>
            <a:srgbClr val="141B30"/>
          </a:solidFill>
          <a:ln w="12700">
            <a:solidFill>
              <a:srgbClr val="1F274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480560" y="3749040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4FE3D0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S</a:t>
            </a:r>
            <a:endParaRPr lang="en-US" sz="3000" dirty="0"/>
          </a:p>
        </p:txBody>
      </p:sp>
      <p:sp>
        <p:nvSpPr>
          <p:cNvPr id="19" name="Text 17"/>
          <p:cNvSpPr/>
          <p:nvPr/>
        </p:nvSpPr>
        <p:spPr>
          <a:xfrm>
            <a:off x="4480560" y="4434840"/>
            <a:ext cx="324612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F2F4F8"/>
                </a:solidFill>
              </a:rPr>
              <a:t>Quarter phase rotation (90°) — used to reach measurement angles like 22.5°/67.5°.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8046720" y="3657600"/>
            <a:ext cx="3611880" cy="1874520"/>
          </a:xfrm>
          <a:prstGeom prst="roundRect">
            <a:avLst>
              <a:gd name="adj" fmla="val 3902"/>
            </a:avLst>
          </a:prstGeom>
          <a:solidFill>
            <a:srgbClr val="141B30"/>
          </a:solidFill>
          <a:ln w="12700">
            <a:solidFill>
              <a:srgbClr val="1F274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229600" y="3749040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4FE3D0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T</a:t>
            </a:r>
            <a:endParaRPr lang="en-US" sz="3000" dirty="0"/>
          </a:p>
        </p:txBody>
      </p:sp>
      <p:sp>
        <p:nvSpPr>
          <p:cNvPr id="22" name="Text 20"/>
          <p:cNvSpPr/>
          <p:nvPr/>
        </p:nvSpPr>
        <p:spPr>
          <a:xfrm>
            <a:off x="8229600" y="4434840"/>
            <a:ext cx="324612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F2F4F8"/>
                </a:solidFill>
              </a:rPr>
              <a:t>Eighth phase rotation (45°) — finer angle control for CHSH bases.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52144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3B8"/>
                </a:solidFill>
              </a:rPr>
              <a:t>08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22860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8B7F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1 · FUNDAMENTALS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2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Rotation Gates: Rₓ, Rᵧ, Rᵣ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1554480"/>
            <a:ext cx="548640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500" dirty="0">
                <a:solidFill>
                  <a:srgbClr val="F2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General-purpose gates that rotate a qubit's Bloch-sphere point by an arbitrary angle θ around the X, Y, or Z axis.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500" dirty="0">
                <a:solidFill>
                  <a:srgbClr val="F2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H, S, T are all special fixed-angle cases of these general rotations.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500" dirty="0">
                <a:solidFill>
                  <a:srgbClr val="F2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measure_chsh() needs measurement angles at 0°, 45°, 22.5°, and 67.5° — the Tsirelson-optimal angles — which are implemented as basis-rotation gates before measurement.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500" dirty="0">
                <a:solidFill>
                  <a:srgbClr val="F2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Changing these angles is precisely how the CHSH test probes different 'hidden variable' assumptions.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492240" y="2011680"/>
            <a:ext cx="5120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i="1" dirty="0">
                <a:solidFill>
                  <a:srgbClr val="8B7FE8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Rᵣ(θ) = e^(-iθZ/2)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492240" y="2743200"/>
            <a:ext cx="5120640" cy="2926080"/>
          </a:xfrm>
          <a:prstGeom prst="roundRect">
            <a:avLst>
              <a:gd name="adj" fmla="val 2500"/>
            </a:avLst>
          </a:prstGeom>
          <a:solidFill>
            <a:srgbClr val="141B30"/>
          </a:solidFill>
          <a:ln w="12700">
            <a:solidFill>
              <a:srgbClr val="1F274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766560" y="29260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4FE3D0"/>
                </a:solidFill>
              </a:rPr>
              <a:t>Project angles used in measure_chsh()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766560" y="3337560"/>
            <a:ext cx="457200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2F4F8"/>
                </a:solidFill>
              </a:rPr>
              <a:t>0°, 45°  (qubit A)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F2F4F8"/>
                </a:solidFill>
              </a:rPr>
              <a:t>22.5°, 67.5°  (qubit B)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F2F4F8"/>
                </a:solidFill>
              </a:rPr>
              <a:t>These four combinations give the maximum possible violation of the classical bound — this is not arbitrary, it's the Tsirelson-optimal choice.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52144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3B8"/>
                </a:solidFill>
              </a:rPr>
              <a:t>09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22860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8B7F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1 · FUNDAMENTALS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2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CNOT (CX) Gate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1554480"/>
            <a:ext cx="548640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500" dirty="0">
                <a:solidFill>
                  <a:srgbClr val="F2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Two-qubit gate: a control qubit and a target qubit.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500" dirty="0">
                <a:solidFill>
                  <a:srgbClr val="F2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the control is |1⟩, the target is flipped; if the control is |0⟩, the target is untouched.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500" dirty="0">
                <a:solidFill>
                  <a:srgbClr val="F2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is the operation that links two qubits' fates together — the second and final step of bell_circuit(): qc.cx(0, 1).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500" dirty="0">
                <a:solidFill>
                  <a:srgbClr val="F2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 + CX together are the minimal two-gate recipe for entanglement used throughout this project.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675120" y="2377440"/>
            <a:ext cx="4389120" cy="0"/>
          </a:xfrm>
          <a:prstGeom prst="line">
            <a:avLst/>
          </a:prstGeom>
          <a:noFill/>
          <a:ln w="19050">
            <a:solidFill>
              <a:srgbClr val="9AA3B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675120" y="3291840"/>
            <a:ext cx="4389120" cy="0"/>
          </a:xfrm>
          <a:prstGeom prst="line">
            <a:avLst/>
          </a:prstGeom>
          <a:noFill/>
          <a:ln w="19050">
            <a:solidFill>
              <a:srgbClr val="9AA3B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172200" y="214884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2F4F8"/>
                </a:solidFill>
              </a:rPr>
              <a:t>q0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172200" y="306324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2F4F8"/>
                </a:solidFill>
              </a:rPr>
              <a:t>q1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949440" y="2103120"/>
            <a:ext cx="548640" cy="548640"/>
          </a:xfrm>
          <a:prstGeom prst="roundRect">
            <a:avLst>
              <a:gd name="adj" fmla="val 13333"/>
            </a:avLst>
          </a:prstGeom>
          <a:solidFill>
            <a:srgbClr val="4FE3D0"/>
          </a:solidFill>
          <a:ln w="12700">
            <a:solidFill>
              <a:srgbClr val="1F274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949440" y="21031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A0E1A"/>
                </a:solidFill>
              </a:rPr>
              <a:t>H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8138160" y="2377440"/>
            <a:ext cx="0" cy="914400"/>
          </a:xfrm>
          <a:prstGeom prst="line">
            <a:avLst/>
          </a:prstGeom>
          <a:noFill/>
          <a:ln w="25400">
            <a:solidFill>
              <a:srgbClr val="F2B84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092440" y="2331720"/>
            <a:ext cx="91440" cy="91440"/>
          </a:xfrm>
          <a:prstGeom prst="ellipse">
            <a:avLst/>
          </a:prstGeom>
          <a:solidFill>
            <a:srgbClr val="F2B84B"/>
          </a:solidFill>
          <a:ln/>
        </p:spPr>
      </p:sp>
      <p:sp>
        <p:nvSpPr>
          <p:cNvPr id="14" name="Shape 12"/>
          <p:cNvSpPr/>
          <p:nvPr/>
        </p:nvSpPr>
        <p:spPr>
          <a:xfrm>
            <a:off x="7909560" y="3063240"/>
            <a:ext cx="457200" cy="457200"/>
          </a:xfrm>
          <a:prstGeom prst="ellipse">
            <a:avLst/>
          </a:prstGeom>
          <a:ln w="25400">
            <a:solidFill>
              <a:srgbClr val="F2B84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955280" y="3291840"/>
            <a:ext cx="365760" cy="0"/>
          </a:xfrm>
          <a:prstGeom prst="line">
            <a:avLst/>
          </a:prstGeom>
          <a:noFill/>
          <a:ln w="25400">
            <a:solidFill>
              <a:srgbClr val="F2B84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138160" y="3108960"/>
            <a:ext cx="0" cy="365760"/>
          </a:xfrm>
          <a:prstGeom prst="line">
            <a:avLst/>
          </a:prstGeom>
          <a:noFill/>
          <a:ln w="25400">
            <a:solidFill>
              <a:srgbClr val="F2B84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675120" y="3931920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9AA3B8"/>
                </a:solidFill>
              </a:rPr>
              <a:t>Bell circuit: H on q0, then CX(q0→q1)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52144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3B8"/>
                </a:solidFill>
              </a:rPr>
              <a:t>10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22860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8B7F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1 · FUNDAMENTALS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2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Controlled Gates, Generally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1554480"/>
            <a:ext cx="10515600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600" dirty="0">
                <a:solidFill>
                  <a:srgbClr val="F2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CX (CNOT) is one member of a broader family: any gate can be made 'controlled' — apply it to the target only if the control is |1⟩.</a:t>
            </a:r>
            <a:endParaRPr lang="en-US" sz="1600" dirty="0"/>
          </a:p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600" dirty="0">
                <a:solidFill>
                  <a:srgbClr val="F2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Controlled-Z, controlled-phase, and Toffoli (double-controlled X) are common relatives.</a:t>
            </a:r>
            <a:endParaRPr lang="en-US" sz="1600" dirty="0"/>
          </a:p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600" dirty="0">
                <a:solidFill>
                  <a:srgbClr val="F2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common thread: entanglement is created whenever a gate's action on one qubit depends on another qubit's state.</a:t>
            </a:r>
            <a:endParaRPr lang="en-US" sz="1600" dirty="0"/>
          </a:p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600" dirty="0">
                <a:solidFill>
                  <a:srgbClr val="F2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QT-1.6 only needs CX, but understanding the family shows why CX isn't a special trick — it's the simplest instance of a general pattern.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52144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3B8"/>
                </a:solidFill>
              </a:rPr>
              <a:t>11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526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237744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kern="0" spc="300" dirty="0">
                <a:solidFill>
                  <a:srgbClr val="8B7FE8"/>
                </a:solidFill>
              </a:rPr>
              <a:t>MODULE 2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31520" y="2788920"/>
            <a:ext cx="10515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2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Entanglement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731520" y="39319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9AA3B8"/>
                </a:solidFill>
              </a:rPr>
              <a:t>The Bell state, its mathematical description, and how noise turns pure states into mixed ones.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9692640" y="1097280"/>
            <a:ext cx="2011680" cy="2011680"/>
          </a:xfrm>
          <a:prstGeom prst="ellipse">
            <a:avLst/>
          </a:prstGeom>
          <a:solidFill>
            <a:srgbClr val="8B7FE8">
              <a:alpha val="15000"/>
            </a:srgbClr>
          </a:solidFill>
          <a:ln w="25400">
            <a:solidFill>
              <a:srgbClr val="8B7FE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241280" y="1645920"/>
            <a:ext cx="914400" cy="914400"/>
          </a:xfrm>
          <a:prstGeom prst="ellipse">
            <a:avLst/>
          </a:prstGeom>
          <a:solidFill>
            <a:srgbClr val="8B7FE8">
              <a:alpha val="60000"/>
            </a:srgbClr>
          </a:solidFill>
          <a:ln/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52144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3B8"/>
                </a:solidFill>
              </a:rPr>
              <a:t>12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22860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8B7F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2 · ENTANGLEMENT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2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Entanglement?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1554480"/>
            <a:ext cx="10515600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600" dirty="0">
                <a:solidFill>
                  <a:srgbClr val="F2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qubits are entangled when their combined state cannot be written as a product of two separate single-qubit states.</a:t>
            </a:r>
            <a:endParaRPr lang="en-US" sz="1600" dirty="0"/>
          </a:p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600" dirty="0">
                <a:solidFill>
                  <a:srgbClr val="F2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Measuring one qubit instantly determines the outcome of measuring the other — regardless of distance.</a:t>
            </a:r>
            <a:endParaRPr lang="en-US" sz="1600" dirty="0"/>
          </a:p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600" dirty="0">
                <a:solidFill>
                  <a:srgbClr val="F2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Crucially: neither qubit had a definite value before measurement. This is stronger than any classical correlation (like two coins secretly set to match).</a:t>
            </a:r>
            <a:endParaRPr lang="en-US" sz="1600" dirty="0"/>
          </a:p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600" dirty="0">
                <a:solidFill>
                  <a:srgbClr val="F2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is exactly the resource the CHSH test in Module 4 proves is present.</a:t>
            </a:r>
            <a:endParaRPr lang="en-US" sz="16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52144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3B8"/>
                </a:solidFill>
              </a:rPr>
              <a:t>13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22860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8B7F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2 · ENTANGLEMENT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2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Four Bell States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2697480" cy="3291840"/>
          </a:xfrm>
          <a:prstGeom prst="roundRect">
            <a:avLst>
              <a:gd name="adj" fmla="val 2712"/>
            </a:avLst>
          </a:prstGeom>
          <a:solidFill>
            <a:srgbClr val="141B30"/>
          </a:solidFill>
          <a:ln w="12700">
            <a:solidFill>
              <a:srgbClr val="1F274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2011680"/>
            <a:ext cx="2697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4FE3D0"/>
                </a:solidFill>
              </a:rPr>
              <a:t>|Φ⁺⟩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640080" y="2834640"/>
            <a:ext cx="2514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F2F4F8"/>
                </a:solidFill>
              </a:rPr>
              <a:t>(|00⟩ + |11⟩)/√2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0080" y="4389120"/>
            <a:ext cx="2514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2B84B"/>
                </a:solidFill>
              </a:rPr>
              <a:t>Used in this project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383280" y="1737360"/>
            <a:ext cx="2697480" cy="3291840"/>
          </a:xfrm>
          <a:prstGeom prst="roundRect">
            <a:avLst>
              <a:gd name="adj" fmla="val 2712"/>
            </a:avLst>
          </a:prstGeom>
          <a:solidFill>
            <a:srgbClr val="0F1526"/>
          </a:solidFill>
          <a:ln w="12700">
            <a:solidFill>
              <a:srgbClr val="1F274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383280" y="2011680"/>
            <a:ext cx="2697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9AA3B8"/>
                </a:solidFill>
              </a:rPr>
              <a:t>|Φ⁻⟩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3474720" y="2834640"/>
            <a:ext cx="2514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F2F4F8"/>
                </a:solidFill>
              </a:rPr>
              <a:t>(|00⟩ − |11⟩)/√2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217920" y="1737360"/>
            <a:ext cx="2697480" cy="3291840"/>
          </a:xfrm>
          <a:prstGeom prst="roundRect">
            <a:avLst>
              <a:gd name="adj" fmla="val 2712"/>
            </a:avLst>
          </a:prstGeom>
          <a:solidFill>
            <a:srgbClr val="0F1526"/>
          </a:solidFill>
          <a:ln w="12700">
            <a:solidFill>
              <a:srgbClr val="1F274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217920" y="2011680"/>
            <a:ext cx="2697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9AA3B8"/>
                </a:solidFill>
              </a:rPr>
              <a:t>|Ψ⁺⟩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6309360" y="2834640"/>
            <a:ext cx="2514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F2F4F8"/>
                </a:solidFill>
              </a:rPr>
              <a:t>(|01⟩ + |10⟩)/√2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9052560" y="1737360"/>
            <a:ext cx="2697480" cy="3291840"/>
          </a:xfrm>
          <a:prstGeom prst="roundRect">
            <a:avLst>
              <a:gd name="adj" fmla="val 2712"/>
            </a:avLst>
          </a:prstGeom>
          <a:solidFill>
            <a:srgbClr val="0F1526"/>
          </a:solidFill>
          <a:ln w="12700">
            <a:solidFill>
              <a:srgbClr val="1F274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052560" y="2011680"/>
            <a:ext cx="2697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9AA3B8"/>
                </a:solidFill>
              </a:rPr>
              <a:t>|Ψ⁻⟩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9144000" y="2834640"/>
            <a:ext cx="2514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F2F4F8"/>
                </a:solidFill>
              </a:rPr>
              <a:t>(|01⟩ − |10⟩)/√2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48640" y="52120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AA3B8"/>
                </a:solidFill>
              </a:rPr>
              <a:t>These four maximally-entangled two-qubit states form an orthonormal basis. bell_circuit() in the project produces |Φ⁺⟩ specifically.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52144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3B8"/>
                </a:solidFill>
              </a:rPr>
              <a:t>14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22860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8B7F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2 · ENTANGLEMENT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2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Creating a Bell Pair, Step by Step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11064240" cy="1234440"/>
          </a:xfrm>
          <a:prstGeom prst="roundRect">
            <a:avLst>
              <a:gd name="adj" fmla="val 5926"/>
            </a:avLst>
          </a:prstGeom>
          <a:solidFill>
            <a:srgbClr val="141B30"/>
          </a:solidFill>
          <a:ln w="12700">
            <a:solidFill>
              <a:srgbClr val="1F274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0" y="2011680"/>
            <a:ext cx="594360" cy="594360"/>
          </a:xfrm>
          <a:prstGeom prst="ellipse">
            <a:avLst/>
          </a:prstGeom>
          <a:solidFill>
            <a:srgbClr val="4FE3D0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201168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A0E1A"/>
                </a:solidFill>
              </a:rPr>
              <a:t>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737360" y="1856232"/>
            <a:ext cx="3108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2F4F8"/>
                </a:solidFill>
              </a:rPr>
              <a:t>Start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937760" y="1856232"/>
            <a:ext cx="6400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4FE3D0"/>
                </a:solidFill>
              </a:rPr>
              <a:t>|00⟩ — both qubits initialized to 0.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48640" y="3108960"/>
            <a:ext cx="11064240" cy="1234440"/>
          </a:xfrm>
          <a:prstGeom prst="roundRect">
            <a:avLst>
              <a:gd name="adj" fmla="val 5926"/>
            </a:avLst>
          </a:prstGeom>
          <a:solidFill>
            <a:srgbClr val="141B30"/>
          </a:solidFill>
          <a:ln w="12700">
            <a:solidFill>
              <a:srgbClr val="1F274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22960" y="3429000"/>
            <a:ext cx="594360" cy="594360"/>
          </a:xfrm>
          <a:prstGeom prst="ellipse">
            <a:avLst/>
          </a:prstGeom>
          <a:solidFill>
            <a:srgbClr val="4FE3D0"/>
          </a:solidFill>
          <a:ln/>
        </p:spPr>
      </p:sp>
      <p:sp>
        <p:nvSpPr>
          <p:cNvPr id="12" name="Text 10"/>
          <p:cNvSpPr/>
          <p:nvPr/>
        </p:nvSpPr>
        <p:spPr>
          <a:xfrm>
            <a:off x="822960" y="342900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A0E1A"/>
                </a:solidFill>
              </a:rPr>
              <a:t>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737360" y="3273552"/>
            <a:ext cx="3108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2F4F8"/>
                </a:solidFill>
              </a:rPr>
              <a:t>Apply H to q0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937760" y="3273552"/>
            <a:ext cx="6400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4FE3D0"/>
                </a:solidFill>
              </a:rPr>
              <a:t>(|00⟩ + |10⟩)/√2 — q0 is now in superposition.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48640" y="4526280"/>
            <a:ext cx="11064240" cy="1234440"/>
          </a:xfrm>
          <a:prstGeom prst="roundRect">
            <a:avLst>
              <a:gd name="adj" fmla="val 5926"/>
            </a:avLst>
          </a:prstGeom>
          <a:solidFill>
            <a:srgbClr val="141B30"/>
          </a:solidFill>
          <a:ln w="12700">
            <a:solidFill>
              <a:srgbClr val="1F274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22960" y="4846320"/>
            <a:ext cx="594360" cy="594360"/>
          </a:xfrm>
          <a:prstGeom prst="ellipse">
            <a:avLst/>
          </a:prstGeom>
          <a:solidFill>
            <a:srgbClr val="4FE3D0"/>
          </a:solidFill>
          <a:ln/>
        </p:spPr>
      </p:sp>
      <p:sp>
        <p:nvSpPr>
          <p:cNvPr id="17" name="Text 15"/>
          <p:cNvSpPr/>
          <p:nvPr/>
        </p:nvSpPr>
        <p:spPr>
          <a:xfrm>
            <a:off x="822960" y="484632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A0E1A"/>
                </a:solidFill>
              </a:rPr>
              <a:t>3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737360" y="4690872"/>
            <a:ext cx="3108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2F4F8"/>
                </a:solidFill>
              </a:rPr>
              <a:t>Apply CX(q0→q1)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4937760" y="4690872"/>
            <a:ext cx="6400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4FE3D0"/>
                </a:solidFill>
              </a:rPr>
              <a:t>(|00⟩ + |11⟩)/√2 — q1 now flips exactly when q0 is 1.</a:t>
            </a:r>
            <a:endParaRPr lang="en-US" sz="1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52144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3B8"/>
                </a:solidFill>
              </a:rPr>
              <a:t>15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22860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8B7F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2 · ENTANGLEMENT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2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Reading the Bell Circuit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914400" y="2194560"/>
            <a:ext cx="5486400" cy="0"/>
          </a:xfrm>
          <a:prstGeom prst="line">
            <a:avLst/>
          </a:prstGeom>
          <a:noFill/>
          <a:ln w="19050">
            <a:solidFill>
              <a:srgbClr val="9AA3B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14400" y="3291840"/>
            <a:ext cx="5486400" cy="0"/>
          </a:xfrm>
          <a:prstGeom prst="line">
            <a:avLst/>
          </a:prstGeom>
          <a:noFill/>
          <a:ln w="19050">
            <a:solidFill>
              <a:srgbClr val="9AA3B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0" y="1965960"/>
            <a:ext cx="822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2F4F8"/>
                </a:solidFill>
              </a:rPr>
              <a:t>q0: |0⟩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0" y="3063240"/>
            <a:ext cx="822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2F4F8"/>
                </a:solidFill>
              </a:rPr>
              <a:t>q1: |0⟩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1371600" y="1920240"/>
            <a:ext cx="548640" cy="548640"/>
          </a:xfrm>
          <a:prstGeom prst="roundRect">
            <a:avLst>
              <a:gd name="adj" fmla="val 13333"/>
            </a:avLst>
          </a:prstGeom>
          <a:solidFill>
            <a:srgbClr val="4FE3D0"/>
          </a:solidFill>
          <a:ln w="12700">
            <a:solidFill>
              <a:srgbClr val="1F274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371600" y="19202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A0E1A"/>
                </a:solidFill>
              </a:rPr>
              <a:t>H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3017520" y="2194560"/>
            <a:ext cx="0" cy="1097280"/>
          </a:xfrm>
          <a:prstGeom prst="line">
            <a:avLst/>
          </a:prstGeom>
          <a:noFill/>
          <a:ln w="25400">
            <a:solidFill>
              <a:srgbClr val="F2B84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971800" y="2148840"/>
            <a:ext cx="91440" cy="91440"/>
          </a:xfrm>
          <a:prstGeom prst="ellipse">
            <a:avLst/>
          </a:prstGeom>
          <a:solidFill>
            <a:srgbClr val="F2B84B"/>
          </a:solidFill>
          <a:ln/>
        </p:spPr>
      </p:sp>
      <p:sp>
        <p:nvSpPr>
          <p:cNvPr id="13" name="Shape 11"/>
          <p:cNvSpPr/>
          <p:nvPr/>
        </p:nvSpPr>
        <p:spPr>
          <a:xfrm>
            <a:off x="2788920" y="3063240"/>
            <a:ext cx="457200" cy="457200"/>
          </a:xfrm>
          <a:prstGeom prst="ellipse">
            <a:avLst/>
          </a:prstGeom>
          <a:ln w="25400">
            <a:solidFill>
              <a:srgbClr val="F2B84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206240" y="3017520"/>
            <a:ext cx="822960" cy="548640"/>
          </a:xfrm>
          <a:prstGeom prst="roundRect">
            <a:avLst>
              <a:gd name="adj" fmla="val 13333"/>
            </a:avLst>
          </a:prstGeom>
          <a:solidFill>
            <a:srgbClr val="0F1526"/>
          </a:solidFill>
          <a:ln w="12700">
            <a:solidFill>
              <a:srgbClr val="1F274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206240" y="3017520"/>
            <a:ext cx="822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9AA3B8"/>
                </a:solidFill>
              </a:rPr>
              <a:t>id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206240" y="3749040"/>
            <a:ext cx="21031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9AA3B8"/>
                </a:solidFill>
              </a:rPr>
              <a:t>qc.id(1) — a placeholder marking</a:t>
            </a:r>
            <a:endParaRPr lang="en-US" sz="1100" dirty="0"/>
          </a:p>
          <a:p>
            <a:pPr marL="0" indent="0">
              <a:buNone/>
            </a:pPr>
            <a:r>
              <a:rPr lang="en-US" sz="1100" i="1" dirty="0">
                <a:solidFill>
                  <a:srgbClr val="9AA3B8"/>
                </a:solidFill>
              </a:rPr>
              <a:t>the channel-transit point where</a:t>
            </a:r>
            <a:endParaRPr lang="en-US" sz="1100" dirty="0"/>
          </a:p>
          <a:p>
            <a:pPr marL="0" indent="0">
              <a:buNone/>
            </a:pPr>
            <a:r>
              <a:rPr lang="en-US" sz="1100" i="1" dirty="0">
                <a:solidFill>
                  <a:srgbClr val="9AA3B8"/>
                </a:solidFill>
              </a:rPr>
              <a:t>noise gates get inserted later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949440" y="1737360"/>
            <a:ext cx="4663440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400" dirty="0">
                <a:solidFill>
                  <a:srgbClr val="F2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qc.h(0) — put q0 in superposition.</a:t>
            </a:r>
            <a:endParaRPr lang="en-US" sz="1400" dirty="0"/>
          </a:p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400" dirty="0">
                <a:solidFill>
                  <a:srgbClr val="F2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qc.cx(0, 1) — entangle q0 and q1.</a:t>
            </a:r>
            <a:endParaRPr lang="en-US" sz="1400" dirty="0"/>
          </a:p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400" dirty="0">
                <a:solidFill>
                  <a:srgbClr val="F2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qc.id(1) — a labeled identity gate marking where the 'signal' qubit conceptually passes through a channel.</a:t>
            </a:r>
            <a:endParaRPr lang="en-US" sz="1400" dirty="0"/>
          </a:p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400" dirty="0">
                <a:solidFill>
                  <a:srgbClr val="F2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3-line circuit is the entire foundation every later measurement builds on.</a:t>
            </a:r>
            <a:endParaRPr lang="en-US" sz="1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52144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3B8"/>
                </a:solidFill>
              </a:rPr>
              <a:t>16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22860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8B7F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2 · ENTANGLEMENT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2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Tensor Product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1828800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i="1" dirty="0">
                <a:solidFill>
                  <a:srgbClr val="4FE3D0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|ψ⟩ ⊗ |ϕ⟩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48640" y="2468880"/>
            <a:ext cx="1051560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500" dirty="0">
                <a:solidFill>
                  <a:srgbClr val="F2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tensor product (⊗) is how two separate qubit states combine into one joint state.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500" dirty="0">
                <a:solidFill>
                  <a:srgbClr val="F2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product state like |0⟩⊗|0⟩ = |00⟩ can always be split back into two independent qubits.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500" dirty="0">
                <a:solidFill>
                  <a:srgbClr val="F2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entangled state like |Φ⁺⟩ CANNOT be written as any single tensor product — that inability to factor is the mathematical definition of entanglement.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500" dirty="0">
                <a:solidFill>
                  <a:srgbClr val="F2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is why superposition alone (one qubit) isn't entanglement (two qubits) — entanglement is a statement about joint, non-factorizable structure.</a:t>
            </a:r>
            <a:endParaRPr lang="en-US" sz="15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52144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3B8"/>
                </a:solidFill>
              </a:rPr>
              <a:t>17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22860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8B7F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2 · ENTANGLEMENT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2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Density Matrices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1737360"/>
            <a:ext cx="5029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i="1" dirty="0">
                <a:solidFill>
                  <a:srgbClr val="4FE3D0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ρ = |ψ⟩⟨ψ|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48640" y="2377440"/>
            <a:ext cx="548640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500" dirty="0">
                <a:solidFill>
                  <a:srgbClr val="F2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state vector |ψ⟩ only describes a perfectly clean, 'pure' state.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500" dirty="0">
                <a:solidFill>
                  <a:srgbClr val="F2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Once noise is involved, the qubit pair becomes a statistical mixture of possible states — no single vector can represent that.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500" dirty="0">
                <a:solidFill>
                  <a:srgbClr val="F2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density matrix ρ generalizes state description to handle exactly this case.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500" dirty="0">
                <a:solidFill>
                  <a:srgbClr val="F2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measure_concurrence() in the project operates directly on ρ, not on a state vector — this is why density matrices are non-optional for the noise analysis.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92240" y="1737360"/>
            <a:ext cx="5120640" cy="4023360"/>
          </a:xfrm>
          <a:prstGeom prst="roundRect">
            <a:avLst>
              <a:gd name="adj" fmla="val 1818"/>
            </a:avLst>
          </a:prstGeom>
          <a:solidFill>
            <a:srgbClr val="141B30"/>
          </a:solidFill>
          <a:ln w="12700">
            <a:solidFill>
              <a:srgbClr val="1F274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766560" y="19202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4FE3D0"/>
                </a:solidFill>
              </a:rPr>
              <a:t>Pure vs. mixed, formally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766560" y="2377440"/>
            <a:ext cx="45720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2F4F8"/>
                </a:solidFill>
              </a:rPr>
              <a:t>Pure state: ρ² = ρ  (Tr(ρ²) = 1)</a:t>
            </a:r>
            <a:endParaRPr lang="en-US" sz="1350" dirty="0"/>
          </a:p>
          <a:p>
            <a:pPr marL="0" indent="0">
              <a:buNone/>
            </a:pP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rgbClr val="F2F4F8"/>
                </a:solidFill>
              </a:rPr>
              <a:t>Mixed state: ρ² ≠ ρ  (Tr(ρ²) &lt; 1)</a:t>
            </a:r>
            <a:endParaRPr lang="en-US" sz="1350" dirty="0"/>
          </a:p>
          <a:p>
            <a:pPr marL="0" indent="0">
              <a:buNone/>
            </a:pP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rgbClr val="F2F4F8"/>
                </a:solidFill>
              </a:rPr>
              <a:t>Every noise channel in this project (depolarizing, amplitude damping) pushes ρ away from purity — Tr(ρ²) is effectively a purity meter.</a:t>
            </a:r>
            <a:endParaRPr lang="en-US" sz="13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52144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3B8"/>
                </a:solidFill>
              </a:rPr>
              <a:t>18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22860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8B7F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2 · ENTANGLEMENT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2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Partial Trace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1554480"/>
            <a:ext cx="10515600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600" dirty="0">
                <a:solidFill>
                  <a:srgbClr val="F2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you only have access to one qubit of an entangled pair, you need to 'trace out' the other to describe what you can locally observe.</a:t>
            </a:r>
            <a:endParaRPr lang="en-US" sz="1600" dirty="0"/>
          </a:p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600" dirty="0">
                <a:solidFill>
                  <a:srgbClr val="F2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partial trace Tr₂(ρ) removes qubit 2's degrees of freedom, leaving qubit 1's reduced density matrix.</a:t>
            </a:r>
            <a:endParaRPr lang="en-US" sz="1600" dirty="0"/>
          </a:p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600" dirty="0">
                <a:solidFill>
                  <a:srgbClr val="F2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a maximally entangled pair, the reduced state of either qubit alone is maximally mixed (ρ = I/2) — locally it looks like total randomness, even though the pair is perfectly correlated.</a:t>
            </a:r>
            <a:endParaRPr lang="en-US" sz="1600" dirty="0"/>
          </a:p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600" dirty="0">
                <a:solidFill>
                  <a:srgbClr val="F2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is the formal reason 'you can't use entanglement to send information faster than light' — locally, each qubit alone tells you nothing.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5577840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i="1" dirty="0">
                <a:solidFill>
                  <a:srgbClr val="8B7FE8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ρ₁ = Tr₂(ρ₁₂)</a:t>
            </a:r>
            <a:endParaRPr lang="en-US" sz="18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52144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3B8"/>
                </a:solidFill>
              </a:rPr>
              <a:t>19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22860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8B7F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2 · ENTANGLEMENT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2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Mixed vs. Pure States — Why It Matters Here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5212080" cy="3931920"/>
          </a:xfrm>
          <a:prstGeom prst="roundRect">
            <a:avLst>
              <a:gd name="adj" fmla="val 1860"/>
            </a:avLst>
          </a:prstGeom>
          <a:solidFill>
            <a:srgbClr val="141B30"/>
          </a:solidFill>
          <a:ln w="12700">
            <a:solidFill>
              <a:srgbClr val="1F274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18745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4FE3D0"/>
                </a:solidFill>
              </a:rPr>
              <a:t>Pure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822960" y="2286000"/>
            <a:ext cx="466344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350" dirty="0">
                <a:solidFill>
                  <a:srgbClr val="F2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Noiseless Bell pair</a:t>
            </a:r>
            <a:endParaRPr lang="en-US" sz="1350" dirty="0"/>
          </a:p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350" dirty="0">
                <a:solidFill>
                  <a:srgbClr val="F2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Fully described by |Φ⁺⟩</a:t>
            </a:r>
            <a:endParaRPr lang="en-US" sz="1350" dirty="0"/>
          </a:p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350" dirty="0">
                <a:solidFill>
                  <a:srgbClr val="F2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CHSH gives S = 2.8545, matching Tsirelson's bound almost exactly</a:t>
            </a:r>
            <a:endParaRPr lang="en-US" sz="1350" dirty="0"/>
          </a:p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350" dirty="0">
                <a:solidFill>
                  <a:srgbClr val="F2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Concurrence = 1.0 (maximal)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309360" y="1691640"/>
            <a:ext cx="5303520" cy="3931920"/>
          </a:xfrm>
          <a:prstGeom prst="roundRect">
            <a:avLst>
              <a:gd name="adj" fmla="val 1860"/>
            </a:avLst>
          </a:prstGeom>
          <a:solidFill>
            <a:srgbClr val="141B30"/>
          </a:solidFill>
          <a:ln w="12700">
            <a:solidFill>
              <a:srgbClr val="1F274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83680" y="18745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E8615A"/>
                </a:solidFill>
              </a:rPr>
              <a:t>Mixed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6583680" y="2286000"/>
            <a:ext cx="484632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350" dirty="0">
                <a:solidFill>
                  <a:srgbClr val="F2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Noisy Bell pair, described only by ρ</a:t>
            </a:r>
            <a:endParaRPr lang="en-US" sz="1350" dirty="0"/>
          </a:p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350" dirty="0">
                <a:solidFill>
                  <a:srgbClr val="F2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Depolarizing noise turns the pure Bell state into a probabilistic blend with the identity</a:t>
            </a:r>
            <a:endParaRPr lang="en-US" sz="1350" dirty="0"/>
          </a:p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350" dirty="0">
                <a:solidFill>
                  <a:srgbClr val="F2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 falls smoothly, crossing below 2 at ~12% noise</a:t>
            </a:r>
            <a:endParaRPr lang="en-US" sz="1350" dirty="0"/>
          </a:p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350" dirty="0">
                <a:solidFill>
                  <a:srgbClr val="F2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Concurrence falls to 0.1466 at 50% noise</a:t>
            </a:r>
            <a:endParaRPr lang="en-US" sz="13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52144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3B8"/>
                </a:solidFill>
              </a:rPr>
              <a:t>20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526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237744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kern="0" spc="300" dirty="0">
                <a:solidFill>
                  <a:srgbClr val="F2B84B"/>
                </a:solidFill>
              </a:rPr>
              <a:t>MODULE 3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31520" y="2788920"/>
            <a:ext cx="10515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2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Mathematics Used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731520" y="39319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9AA3B8"/>
                </a:solidFill>
              </a:rPr>
              <a:t>The formal toolkit — complex numbers through eigenvectors — that every formula in this project rests on.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9692640" y="1097280"/>
            <a:ext cx="2011680" cy="2011680"/>
          </a:xfrm>
          <a:prstGeom prst="ellipse">
            <a:avLst/>
          </a:prstGeom>
          <a:solidFill>
            <a:srgbClr val="F2B84B">
              <a:alpha val="15000"/>
            </a:srgbClr>
          </a:solidFill>
          <a:ln w="25400">
            <a:solidFill>
              <a:srgbClr val="F2B84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241280" y="1645920"/>
            <a:ext cx="914400" cy="914400"/>
          </a:xfrm>
          <a:prstGeom prst="ellipse">
            <a:avLst/>
          </a:prstGeom>
          <a:solidFill>
            <a:srgbClr val="F2B84B">
              <a:alpha val="60000"/>
            </a:srgbClr>
          </a:solidFill>
          <a:ln/>
        </p:spPr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52144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3B8"/>
                </a:solidFill>
              </a:rPr>
              <a:t>21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22860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8B7F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3 · MATHEMATICS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2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Complex Numbers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1554480"/>
            <a:ext cx="10515600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600" dirty="0">
                <a:solidFill>
                  <a:srgbClr val="F2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Quantum amplitudes (α, β) are complex numbers: a + bi, with magnitude and phase.</a:t>
            </a:r>
            <a:endParaRPr lang="en-US" sz="1600" dirty="0"/>
          </a:p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600" dirty="0">
                <a:solidFill>
                  <a:srgbClr val="F2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doesn't affect measurement probability directly (|α|²) but does affect how states interfere when combined — this is what makes gates like S and T meaningful.</a:t>
            </a:r>
            <a:endParaRPr lang="en-US" sz="1600" dirty="0"/>
          </a:p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600" dirty="0">
                <a:solidFill>
                  <a:srgbClr val="F2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rotation gates in Module 1 are literally multiplications by complex exponentials e^{iθ}.</a:t>
            </a:r>
            <a:endParaRPr lang="en-US" sz="1600" dirty="0"/>
          </a:p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600" dirty="0">
                <a:solidFill>
                  <a:srgbClr val="F2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Without complex numbers, interference — the phenomenon underlying every quantum algorithm — cannot be described at all.</a:t>
            </a:r>
            <a:endParaRPr lang="en-US" sz="16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52144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3B8"/>
                </a:solidFill>
              </a:rPr>
              <a:t>22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22860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8B7F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3 · MATHEMATICS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2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Dirac (Bra-Ket) Notation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11064240" cy="822960"/>
          </a:xfrm>
          <a:prstGeom prst="roundRect">
            <a:avLst>
              <a:gd name="adj" fmla="val 8889"/>
            </a:avLst>
          </a:prstGeom>
          <a:solidFill>
            <a:srgbClr val="141B30"/>
          </a:solidFill>
          <a:ln w="12700">
            <a:solidFill>
              <a:srgbClr val="1F274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1691640"/>
            <a:ext cx="1828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i="1" dirty="0">
                <a:solidFill>
                  <a:srgbClr val="4FE3D0"/>
                </a:solidFill>
              </a:rPr>
              <a:t>|ψ⟩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2743200" y="1691640"/>
            <a:ext cx="8595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2F4F8"/>
                </a:solidFill>
              </a:rPr>
              <a:t>'Ket' — a column vector representing a quantum state.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2651760"/>
            <a:ext cx="11064240" cy="822960"/>
          </a:xfrm>
          <a:prstGeom prst="roundRect">
            <a:avLst>
              <a:gd name="adj" fmla="val 8889"/>
            </a:avLst>
          </a:prstGeom>
          <a:solidFill>
            <a:srgbClr val="141B30"/>
          </a:solidFill>
          <a:ln w="12700">
            <a:solidFill>
              <a:srgbClr val="1F274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2651760"/>
            <a:ext cx="1828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i="1" dirty="0">
                <a:solidFill>
                  <a:srgbClr val="4FE3D0"/>
                </a:solidFill>
              </a:rPr>
              <a:t>⟨ψ|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2743200" y="2651760"/>
            <a:ext cx="8595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2F4F8"/>
                </a:solidFill>
              </a:rPr>
              <a:t>'Bra' — the conjugate-transpose row vector.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48640" y="3611880"/>
            <a:ext cx="11064240" cy="822960"/>
          </a:xfrm>
          <a:prstGeom prst="roundRect">
            <a:avLst>
              <a:gd name="adj" fmla="val 8889"/>
            </a:avLst>
          </a:prstGeom>
          <a:solidFill>
            <a:srgbClr val="141B30"/>
          </a:solidFill>
          <a:ln w="12700">
            <a:solidFill>
              <a:srgbClr val="1F274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" y="3611880"/>
            <a:ext cx="1828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i="1" dirty="0">
                <a:solidFill>
                  <a:srgbClr val="4FE3D0"/>
                </a:solidFill>
              </a:rPr>
              <a:t>⟨φ|ψ⟩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2743200" y="3611880"/>
            <a:ext cx="8595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2F4F8"/>
                </a:solidFill>
              </a:rPr>
              <a:t>Inner product — overlap between two states (a complex number).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48640" y="4572000"/>
            <a:ext cx="11064240" cy="822960"/>
          </a:xfrm>
          <a:prstGeom prst="roundRect">
            <a:avLst>
              <a:gd name="adj" fmla="val 8889"/>
            </a:avLst>
          </a:prstGeom>
          <a:solidFill>
            <a:srgbClr val="141B30"/>
          </a:solidFill>
          <a:ln w="12700">
            <a:solidFill>
              <a:srgbClr val="1F274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2960" y="4572000"/>
            <a:ext cx="1828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i="1" dirty="0">
                <a:solidFill>
                  <a:srgbClr val="4FE3D0"/>
                </a:solidFill>
              </a:rPr>
              <a:t>|ψ⟩⟨ψ|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2743200" y="4572000"/>
            <a:ext cx="8595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2F4F8"/>
                </a:solidFill>
              </a:rPr>
              <a:t>Outer product — builds the density matrix ρ.</a:t>
            </a:r>
            <a:endParaRPr lang="en-US" sz="14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52144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3B8"/>
                </a:solidFill>
              </a:rPr>
              <a:t>23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22860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8B7F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3 · MATHEMATICS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2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State Vector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1828800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i="1" dirty="0">
                <a:solidFill>
                  <a:srgbClr val="4FE3D0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|ψ⟩ = [α, β]ᵀ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48640" y="2468880"/>
            <a:ext cx="1051560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500" dirty="0">
                <a:solidFill>
                  <a:srgbClr val="F2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single qubit's state vector has 2 complex entries; two qubits jointly need 4 entries (2²), scaling exponentially with qubit count.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500" dirty="0">
                <a:solidFill>
                  <a:srgbClr val="F2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the Bell state: |Φ⁺⟩ = [1/√2, 0, 0, 1/√2]ᵀ in the {|00⟩,|01⟩,|10⟩,|11⟩} basis.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500" dirty="0">
                <a:solidFill>
                  <a:srgbClr val="F2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AerSimulator internally tracks this vector (or, once noise is added, the density matrix) and samples from it to produce measurement 'counts' — the raw data every plot in this project is built from.</a:t>
            </a:r>
            <a:endParaRPr lang="en-US" sz="15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52144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3B8"/>
                </a:solidFill>
              </a:rPr>
              <a:t>24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22860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8B7F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3 · MATHEMATICS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2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Pauli Matrices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3566160" cy="2103120"/>
          </a:xfrm>
          <a:prstGeom prst="roundRect">
            <a:avLst>
              <a:gd name="adj" fmla="val 3478"/>
            </a:avLst>
          </a:prstGeom>
          <a:solidFill>
            <a:srgbClr val="141B30"/>
          </a:solidFill>
          <a:ln w="12700">
            <a:solidFill>
              <a:srgbClr val="1F274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874520"/>
            <a:ext cx="3566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4FE3D0"/>
                </a:solidFill>
              </a:rPr>
              <a:t>X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548640" y="2468880"/>
            <a:ext cx="35661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i="1" dirty="0">
                <a:solidFill>
                  <a:srgbClr val="F2F4F8"/>
                </a:solidFill>
              </a:rPr>
              <a:t>[[0,1],[1,0]]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251960" y="1737360"/>
            <a:ext cx="3566160" cy="2103120"/>
          </a:xfrm>
          <a:prstGeom prst="roundRect">
            <a:avLst>
              <a:gd name="adj" fmla="val 3478"/>
            </a:avLst>
          </a:prstGeom>
          <a:solidFill>
            <a:srgbClr val="141B30"/>
          </a:solidFill>
          <a:ln w="12700">
            <a:solidFill>
              <a:srgbClr val="1F274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251960" y="1874520"/>
            <a:ext cx="3566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4FE3D0"/>
                </a:solidFill>
              </a:rPr>
              <a:t>Y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4251960" y="2468880"/>
            <a:ext cx="35661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i="1" dirty="0">
                <a:solidFill>
                  <a:srgbClr val="F2F4F8"/>
                </a:solidFill>
              </a:rPr>
              <a:t>[[0,-i],[i,0]]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7955280" y="1737360"/>
            <a:ext cx="3566160" cy="2103120"/>
          </a:xfrm>
          <a:prstGeom prst="roundRect">
            <a:avLst>
              <a:gd name="adj" fmla="val 3478"/>
            </a:avLst>
          </a:prstGeom>
          <a:solidFill>
            <a:srgbClr val="141B30"/>
          </a:solidFill>
          <a:ln w="12700">
            <a:solidFill>
              <a:srgbClr val="1F274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955280" y="1874520"/>
            <a:ext cx="3566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4FE3D0"/>
                </a:solidFill>
              </a:rPr>
              <a:t>Z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7955280" y="2468880"/>
            <a:ext cx="35661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i="1" dirty="0">
                <a:solidFill>
                  <a:srgbClr val="F2F4F8"/>
                </a:solidFill>
              </a:rPr>
              <a:t>[[1,0],[0,-1]]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548640" y="4069080"/>
            <a:ext cx="1106424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450" dirty="0">
                <a:solidFill>
                  <a:srgbClr val="F2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These are the matrix forms of the X, Y, Z gates from Module 1 — the link between 'gate as operation' and 'gate as matrix'.</a:t>
            </a:r>
            <a:endParaRPr lang="en-US" sz="1450" dirty="0"/>
          </a:p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450" dirty="0">
                <a:solidFill>
                  <a:srgbClr val="F2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Concurrence is computed using the Y-Pauli 'spin-flip' operation: ρ̃ = (Y⊗Y) ρ* (Y⊗Y) — this is exactly why the Y matrix specifically appears in Wootters' formula (Module 5/6).</a:t>
            </a:r>
            <a:endParaRPr lang="en-US" sz="1450" dirty="0"/>
          </a:p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450" dirty="0">
                <a:solidFill>
                  <a:srgbClr val="F2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Any single-qubit operation can be written as a combination of I, X, Y, Z — they form a basis for 2×2 Hermitian matrices.</a:t>
            </a:r>
            <a:endParaRPr lang="en-US" sz="14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52144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3B8"/>
                </a:solidFill>
              </a:rPr>
              <a:t>25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22860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8B7F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3 · MATHEMATICS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2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Eigenvalues &amp; Eigenvectors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1828800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i="1" dirty="0">
                <a:solidFill>
                  <a:srgbClr val="4FE3D0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A|v⟩ = λ|v⟩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48640" y="2468880"/>
            <a:ext cx="1051560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500" dirty="0">
                <a:solidFill>
                  <a:srgbClr val="F2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eigenvector of an operator A is a state that A only rescales (by λ), never rotates in direction.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500" dirty="0">
                <a:solidFill>
                  <a:srgbClr val="F2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Concurrence is computed from the eigenvalues of ρρ̃ (the density matrix times its spin-flipped version) — this is the direct mathematical dependency between Module 3 and the Module 5/6 noise analysis.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500" dirty="0">
                <a:solidFill>
                  <a:srgbClr val="F2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Sorting eigenvalues λ₁ ≥ λ₂ ≥ λ₃ ≥ λ₄ and combining them as max(0, √λ₁ − √λ₂ − √λ₃ − √λ₄) is literally the Wootters concurrence formula.</a:t>
            </a:r>
            <a:endParaRPr lang="en-US" sz="15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52144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3B8"/>
                </a:solidFill>
              </a:rPr>
              <a:t>26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22860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8B7F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3 · MATHEMATICS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2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Measurement Probability — the Born Rule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1828800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i="1" dirty="0">
                <a:solidFill>
                  <a:srgbClr val="4FE3D0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P(i) = |⟨i|ψ⟩|²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48640" y="2468880"/>
            <a:ext cx="1051560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500" dirty="0">
                <a:solidFill>
                  <a:srgbClr val="F2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single rule connects every abstract state vector to the actual measurement 'counts' Qiskit returns.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500" dirty="0">
                <a:solidFill>
                  <a:srgbClr val="F2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CHSH correlation, every concurrence value, and every detection error rate in this project is ultimately a function built on top of Born-rule probabilities.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500" dirty="0">
                <a:solidFill>
                  <a:srgbClr val="F2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It's the bridge between the pure math of Modules 1–3 and the concrete graphs of Modules 4–6.</a:t>
            </a:r>
            <a:endParaRPr lang="en-US" sz="15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52144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3B8"/>
                </a:solidFill>
              </a:rPr>
              <a:t>27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526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237744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kern="0" spc="300" dirty="0">
                <a:solidFill>
                  <a:srgbClr val="E8615A"/>
                </a:solidFill>
              </a:rPr>
              <a:t>MODULE 4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31520" y="2788920"/>
            <a:ext cx="10515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2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Bell Inequality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731520" y="39319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9AA3B8"/>
                </a:solidFill>
              </a:rPr>
              <a:t>The CHSH test — proving entanglement is real, not simulated classical correlation.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9692640" y="1097280"/>
            <a:ext cx="2011680" cy="2011680"/>
          </a:xfrm>
          <a:prstGeom prst="ellipse">
            <a:avLst/>
          </a:prstGeom>
          <a:solidFill>
            <a:srgbClr val="E8615A">
              <a:alpha val="15000"/>
            </a:srgbClr>
          </a:solidFill>
          <a:ln w="25400">
            <a:solidFill>
              <a:srgbClr val="E8615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241280" y="1645920"/>
            <a:ext cx="914400" cy="914400"/>
          </a:xfrm>
          <a:prstGeom prst="ellipse">
            <a:avLst/>
          </a:prstGeom>
          <a:solidFill>
            <a:srgbClr val="E8615A">
              <a:alpha val="60000"/>
            </a:srgbClr>
          </a:solidFill>
          <a:ln/>
        </p:spPr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52144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3B8"/>
                </a:solidFill>
              </a:rPr>
              <a:t>28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22860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8B7F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4 · BELL INEQUALITY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2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Bell's Theorem?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1554480"/>
            <a:ext cx="10515600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600" dirty="0">
                <a:solidFill>
                  <a:srgbClr val="F2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Proposed by John Bell in 1964: any theory where particles carry pre-determined 'hidden variable' values (classical realism) makes a measurable, testable prediction.</a:t>
            </a:r>
            <a:endParaRPr lang="en-US" sz="1600" dirty="0"/>
          </a:p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600" dirty="0">
                <a:solidFill>
                  <a:srgbClr val="F2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That prediction is an inequality: certain combinations of correlation measurements can never exceed a fixed bound under hidden-variable assumptions.</a:t>
            </a:r>
            <a:endParaRPr lang="en-US" sz="1600" dirty="0"/>
          </a:p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600" dirty="0">
                <a:solidFill>
                  <a:srgbClr val="F2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Quantum mechanics predicts — and experiments confirm — that entangled particles violate this bound.</a:t>
            </a:r>
            <a:endParaRPr lang="en-US" sz="1600" dirty="0"/>
          </a:p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600" dirty="0">
                <a:solidFill>
                  <a:srgbClr val="F2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turns a philosophical question ('is nature secretly classical?') into an experiment with a numeric answer.</a:t>
            </a:r>
            <a:endParaRPr lang="en-US" sz="16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52144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3B8"/>
                </a:solidFill>
              </a:rPr>
              <a:t>29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22860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8B7F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4 · BELL INEQUALITY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2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 Hidden Variables (LHV)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1554480"/>
            <a:ext cx="10515600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600" dirty="0">
                <a:solidFill>
                  <a:srgbClr val="F2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LHV hypothesis: each particle secretly carries a fixed 'instruction set' determining every possible measurement outcome in advance, and no signal travels faster than light between them.</a:t>
            </a:r>
            <a:endParaRPr lang="en-US" sz="1600" dirty="0"/>
          </a:p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600" dirty="0">
                <a:solidFill>
                  <a:srgbClr val="F2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 LHV, correlations between two distant measurements can only come from that shared, pre-agreed instruction set — nothing 'created' at measurement time.</a:t>
            </a:r>
            <a:endParaRPr lang="en-US" sz="1600" dirty="0"/>
          </a:p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600" dirty="0">
                <a:solidFill>
                  <a:srgbClr val="F2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Bell showed this assumption alone caps how correlated any two measurement settings can be.</a:t>
            </a:r>
            <a:endParaRPr lang="en-US" sz="1600" dirty="0"/>
          </a:p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600" dirty="0">
                <a:solidFill>
                  <a:srgbClr val="F2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QT-1.6's clean Bell pair scores S = 2.8545 — above the LHV ceiling of 2 — which is direct evidence against local hidden variables for this system.</a:t>
            </a:r>
            <a:endParaRPr lang="en-US" sz="16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52144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3B8"/>
                </a:solidFill>
              </a:rPr>
              <a:t>30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22860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8B7F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4 · BELL INEQUALITY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2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CHSH Inequality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1783080"/>
            <a:ext cx="5943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i="1" dirty="0">
                <a:solidFill>
                  <a:srgbClr val="4FE3D0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S = E(a,b) − E(a,b′) + E(a′,b) + E(a′,b′)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48640" y="2514600"/>
            <a:ext cx="1051560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450" dirty="0">
                <a:solidFill>
                  <a:srgbClr val="F2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Named for Clauser, Horne, Shimony, Holt (1969) — a practical, experimentally testable form of Bell's original inequality.</a:t>
            </a:r>
            <a:endParaRPr lang="en-US" sz="1450" dirty="0"/>
          </a:p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450" dirty="0">
                <a:solidFill>
                  <a:srgbClr val="F2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Measure two qubits at four angle combinations (a,b), (a,b′), (a′,b), (a′,b′); each E is a correlation value between −1 and +1.</a:t>
            </a:r>
            <a:endParaRPr lang="en-US" sz="1450" dirty="0"/>
          </a:p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450" dirty="0">
                <a:solidFill>
                  <a:srgbClr val="F2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measure_chsh() in the project implements exactly this: four circuit variants, one per angle pair, combined into a single S value from real measurement counts.</a:t>
            </a:r>
            <a:endParaRPr lang="en-US" sz="1450" dirty="0"/>
          </a:p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450" dirty="0">
                <a:solidFill>
                  <a:srgbClr val="F2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Classical bound: |S| ≤ 2. QT-1.6 measured S = 2.8545 on a clean pair.</a:t>
            </a:r>
            <a:endParaRPr lang="en-US" sz="145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52144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3B8"/>
                </a:solidFill>
              </a:rPr>
              <a:t>31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22860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8B7F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4 · BELL INEQUALITY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2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Tsirelson Bound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1783080"/>
            <a:ext cx="5943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i="1" dirty="0">
                <a:solidFill>
                  <a:srgbClr val="4FE3D0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S_max = 2√2 ≈ 2.828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548640" y="2514600"/>
            <a:ext cx="5212080" cy="3291840"/>
          </a:xfrm>
          <a:prstGeom prst="roundRect">
            <a:avLst>
              <a:gd name="adj" fmla="val 2222"/>
            </a:avLst>
          </a:prstGeom>
          <a:solidFill>
            <a:srgbClr val="141B30"/>
          </a:solidFill>
          <a:ln w="12700">
            <a:solidFill>
              <a:srgbClr val="1F274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2697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4FE3D0"/>
                </a:solidFill>
              </a:rPr>
              <a:t>What it means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22960" y="3063240"/>
            <a:ext cx="466344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F2F4F8"/>
                </a:solidFill>
              </a:rPr>
              <a:t>Even quantum mechanics has a ceiling. No quantum state, however entangled, can push S past 2√2 — this is Tsirelson's bound (1980), and it's tighter than the naive maximum of 4.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126480" y="2514600"/>
            <a:ext cx="5486400" cy="3291840"/>
          </a:xfrm>
          <a:prstGeom prst="roundRect">
            <a:avLst>
              <a:gd name="adj" fmla="val 2222"/>
            </a:avLst>
          </a:prstGeom>
          <a:solidFill>
            <a:srgbClr val="0F1526"/>
          </a:solidFill>
          <a:ln w="12700">
            <a:solidFill>
              <a:srgbClr val="1F274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0" y="2697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2B84B"/>
                </a:solidFill>
              </a:rPr>
              <a:t>Project result vs. theory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400800" y="3108960"/>
            <a:ext cx="4937760" cy="2606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2F4F8"/>
                </a:solidFill>
              </a:rPr>
              <a:t>Measured: S = 2.8545</a:t>
            </a: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rgbClr val="F2F4F8"/>
                </a:solidFill>
              </a:rPr>
              <a:t>Theory max: S = 2.8284</a:t>
            </a:r>
            <a:endParaRPr lang="en-US" sz="1350" dirty="0"/>
          </a:p>
          <a:p>
            <a:pPr marL="0" indent="0">
              <a:buNone/>
            </a:pP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rgbClr val="F2F4F8"/>
                </a:solidFill>
              </a:rPr>
              <a:t>The measured value sits essentially at the theoretical ceiling — well above the classical bound of 2 and consistent (within simulation/shot-noise) with the Tsirelson limit, confirming the Bell circuit is implemented correctly.</a:t>
            </a:r>
            <a:endParaRPr lang="en-US" sz="135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52144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3B8"/>
                </a:solidFill>
              </a:rPr>
              <a:t>32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22860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8B7F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4 · BELL INEQUALITY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2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S &gt; 2 Proves Quantum Physics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1554480"/>
            <a:ext cx="10515600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600" dirty="0">
                <a:solidFill>
                  <a:srgbClr val="F2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 ≤ 2 is not a measurement limitation — it's a hard mathematical consequence of assuming locality + realism (pre-existing values).</a:t>
            </a:r>
            <a:endParaRPr lang="en-US" sz="1600" dirty="0"/>
          </a:p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600" dirty="0">
                <a:solidFill>
                  <a:srgbClr val="F2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Measuring S &gt; 2 rules out that entire class of classical explanations, not just 'a particular classical model'.</a:t>
            </a:r>
            <a:endParaRPr lang="en-US" sz="1600" dirty="0"/>
          </a:p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600" dirty="0">
                <a:solidFill>
                  <a:srgbClr val="F2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is why the CHSH test is treated as the gold-standard proof of entanglement rather than just claiming 'the state formula looks entangled'.</a:t>
            </a:r>
            <a:endParaRPr lang="en-US" sz="1600" dirty="0"/>
          </a:p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600" dirty="0">
                <a:solidFill>
                  <a:srgbClr val="F2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project's noise sweep shows exactly where this proof breaks down: S crosses back below 2 at ~12% depolarizing noise — beyond that point, the correlations are, in principle, classically explainable again.</a:t>
            </a:r>
            <a:endParaRPr lang="en-US" sz="16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52144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3B8"/>
                </a:solidFill>
              </a:rPr>
              <a:t>33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526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237744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kern="0" spc="300" dirty="0">
                <a:solidFill>
                  <a:srgbClr val="4FE3D0"/>
                </a:solidFill>
              </a:rPr>
              <a:t>MODULE 5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31520" y="2788920"/>
            <a:ext cx="10515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2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Noise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731520" y="39319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9AA3B8"/>
                </a:solidFill>
              </a:rPr>
              <a:t>How real-world imperfection degrades entanglement, and how to measure that decay precisely.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9692640" y="1097280"/>
            <a:ext cx="2011680" cy="2011680"/>
          </a:xfrm>
          <a:prstGeom prst="ellipse">
            <a:avLst/>
          </a:prstGeom>
          <a:solidFill>
            <a:srgbClr val="4FE3D0">
              <a:alpha val="15000"/>
            </a:srgbClr>
          </a:solidFill>
          <a:ln w="25400">
            <a:solidFill>
              <a:srgbClr val="4FE3D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241280" y="1645920"/>
            <a:ext cx="914400" cy="914400"/>
          </a:xfrm>
          <a:prstGeom prst="ellipse">
            <a:avLst/>
          </a:prstGeom>
          <a:solidFill>
            <a:srgbClr val="4FE3D0">
              <a:alpha val="60000"/>
            </a:srgbClr>
          </a:solidFill>
          <a:ln/>
        </p:spPr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52144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3B8"/>
                </a:solidFill>
              </a:rPr>
              <a:t>34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22860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8B7F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5 · NOISE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2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Quantum Noise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1554480"/>
            <a:ext cx="10515600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600" dirty="0">
                <a:solidFill>
                  <a:srgbClr val="F2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 qubits interact unavoidably with their environment — this uncontrolled interaction is 'noise'.</a:t>
            </a:r>
            <a:endParaRPr lang="en-US" sz="1600" dirty="0"/>
          </a:p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600" dirty="0">
                <a:solidFill>
                  <a:srgbClr val="F2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Noise turns pure states into mixed states (Module 2), which is why density matrices are required to analyze it at all.</a:t>
            </a:r>
            <a:endParaRPr lang="en-US" sz="1600" dirty="0"/>
          </a:p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600" dirty="0">
                <a:solidFill>
                  <a:srgbClr val="F2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QT-1.6 models two specific, physically-motivated noise channels: depolarizing noise (Module 31) and amplitude damping / photon loss (used in the detection module).</a:t>
            </a:r>
            <a:endParaRPr lang="en-US" sz="1600" dirty="0"/>
          </a:p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600" dirty="0">
                <a:solidFill>
                  <a:srgbClr val="F2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degraded curve in this deck — CHSH vs. noise, concurrence vs. noise, detection error vs. clutter — is the same underlying phenomenon viewed through a different metric.</a:t>
            </a:r>
            <a:endParaRPr lang="en-US" sz="16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52144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3B8"/>
                </a:solidFill>
              </a:rPr>
              <a:t>35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22860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8B7F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5 · NOISE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2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Depolarizing Channel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178308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i="1" dirty="0">
                <a:solidFill>
                  <a:srgbClr val="4FE3D0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ρ → (1−p)ρ + p·I/2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48640" y="2514600"/>
            <a:ext cx="1051560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500" dirty="0">
                <a:solidFill>
                  <a:srgbClr val="F2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 probability p, the qubit's state is replaced entirely by the maximally mixed state I/2 (total randomness); with probability 1−p, it's untouched.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500" dirty="0">
                <a:solidFill>
                  <a:srgbClr val="F2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is the noise model applied to the signal qubit in measure_chsh() and measure_concurrence() — p is the 'depol_p' parameter swept from 0% to 50%.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500" dirty="0">
                <a:solidFill>
                  <a:srgbClr val="F2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It's a standard, symmetric worst-case-ish noise model — it doesn't favor any particular measurement basis, which keeps the CHSH/concurrence comparison fair.</a:t>
            </a:r>
            <a:endParaRPr lang="en-US" sz="15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52144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3B8"/>
                </a:solidFill>
              </a:rPr>
              <a:t>36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22860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8B7F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5 · NOISE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2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Decoherence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1554480"/>
            <a:ext cx="10515600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600" dirty="0">
                <a:solidFill>
                  <a:srgbClr val="F2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general process by which a quantum system loses its distinctly quantum properties (superposition, entanglement) through interaction with its environment.</a:t>
            </a:r>
            <a:endParaRPr lang="en-US" sz="1600" dirty="0"/>
          </a:p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600" dirty="0">
                <a:solidFill>
                  <a:srgbClr val="F2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Depolarizing noise and amplitude damping are both concrete models of decoherence.</a:t>
            </a:r>
            <a:endParaRPr lang="en-US" sz="1600" dirty="0"/>
          </a:p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600" dirty="0">
                <a:solidFill>
                  <a:srgbClr val="F2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Decoherence is why quantum computers need error correction and cryogenic isolation — and why this project's noise sweep is realistic, not a toy exercise.</a:t>
            </a:r>
            <a:endParaRPr lang="en-US" sz="1600" dirty="0"/>
          </a:p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600" dirty="0">
                <a:solidFill>
                  <a:srgbClr val="F2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practical signature of decoherence in this project: S falls, concurrence falls, and the quantum detector's advantage over the classical baseline shrinks — all driven by the same underlying loss of coherence.</a:t>
            </a:r>
            <a:endParaRPr lang="en-US" sz="16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52144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3B8"/>
                </a:solidFill>
              </a:rPr>
              <a:t>37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22860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8B7F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5 · NOISE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2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Fidelity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178308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i="1" dirty="0">
                <a:solidFill>
                  <a:srgbClr val="4FE3D0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F(ρ,σ) = (Tr√(√ρ σ √ρ))²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48640" y="2514600"/>
            <a:ext cx="1051560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500" dirty="0">
                <a:solidFill>
                  <a:srgbClr val="F2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Fidelity measures how close a (possibly noisy) state ρ is to a reference state σ — here, the ideal Bell state.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500" dirty="0">
                <a:solidFill>
                  <a:srgbClr val="F2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 = 1 means identical states; F &lt; 1 quantifies how much noise has corrupted the pair.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500" dirty="0">
                <a:solidFill>
                  <a:srgbClr val="F2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It's the natural complement to concurrence: concurrence asks 'how entangled is it', fidelity asks 'how close is it to the ideal target state'.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500" dirty="0">
                <a:solidFill>
                  <a:srgbClr val="F2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Both metrics tell a consistent story alongside the CHSH curve — three independent windows onto the same decohering system.</a:t>
            </a:r>
            <a:endParaRPr lang="en-US" sz="15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52144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3B8"/>
                </a:solidFill>
              </a:rPr>
              <a:t>38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22860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8B7F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5 · NOISE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2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Concurrence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17830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i="1" dirty="0">
                <a:solidFill>
                  <a:srgbClr val="4FE3D0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C(ρ) = max(0, √λ₁ − √λ₂ − √λ₃ − √λ₄)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48640" y="2514600"/>
            <a:ext cx="1051560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400" dirty="0">
                <a:solidFill>
                  <a:srgbClr val="F2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Introduced by Wootters (1998) as a direct, 0-to-1 scale measure of two-qubit entanglement, computed from the density matrix.</a:t>
            </a:r>
            <a:endParaRPr lang="en-US" sz="1400" dirty="0"/>
          </a:p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400" dirty="0">
                <a:solidFill>
                  <a:srgbClr val="F2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ρ̃ = (Y⊗Y)ρ*(Y⊗Y) is the 'spin-flipped' density matrix; λᵢ are eigenvalues of ρρ̃, sorted descending.</a:t>
            </a:r>
            <a:endParaRPr lang="en-US" sz="1400" dirty="0"/>
          </a:p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400" dirty="0">
                <a:solidFill>
                  <a:srgbClr val="F2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measure_concurrence() computes this exactly on the noisy density matrix — starting at 1.0 for the clean Bell pair, decaying to 0.1466 at 50% depolarizing noise.</a:t>
            </a:r>
            <a:endParaRPr lang="en-US" sz="1400" dirty="0"/>
          </a:p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400" dirty="0">
                <a:solidFill>
                  <a:srgbClr val="F2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Unlike CHSH (a yes/no-ish threshold test), concurrence gives a continuous, independent second opinion on the same physical decay.</a:t>
            </a:r>
            <a:endParaRPr lang="en-US" sz="14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52144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3B8"/>
                </a:solidFill>
              </a:rPr>
              <a:t>39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22860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8B7F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5 · NOISE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2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Error Probability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1554480"/>
            <a:ext cx="10515600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600" dirty="0">
                <a:solidFill>
                  <a:srgbClr val="F2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a detection task, error probability is the chance of a wrong decision — false positive (deciding 'target present' when absent) or false negative.</a:t>
            </a:r>
            <a:endParaRPr lang="en-US" sz="1600" dirty="0"/>
          </a:p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600" dirty="0">
                <a:solidFill>
                  <a:srgbClr val="F2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classical_detect() estimates this empirically via 20,000-trial Monte Carlo sampling under a given noise/clutter level, using a fair, comparably-tuned classical strategy.</a:t>
            </a:r>
            <a:endParaRPr lang="en-US" sz="1600" dirty="0"/>
          </a:p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600" dirty="0">
                <a:solidFill>
                  <a:srgbClr val="F2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quantum_detect() estimates the same quantity using a Bell-basis entanglement witness on the quantum circuit.</a:t>
            </a:r>
            <a:endParaRPr lang="en-US" sz="1600" dirty="0"/>
          </a:p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600" dirty="0">
                <a:solidFill>
                  <a:srgbClr val="F2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 noise dominates, both detectors' error probabilities converge to 0.5 — a coin flip — because all useful correlation has been destroyed.</a:t>
            </a:r>
            <a:endParaRPr lang="en-US" sz="16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52144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3B8"/>
                </a:solidFill>
              </a:rPr>
              <a:t>41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22860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8B7F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6 · YOUR PROJECT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2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 Overview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2011680"/>
            <a:ext cx="2057400" cy="1554480"/>
          </a:xfrm>
          <a:prstGeom prst="roundRect">
            <a:avLst>
              <a:gd name="adj" fmla="val 4706"/>
            </a:avLst>
          </a:prstGeom>
          <a:solidFill>
            <a:srgbClr val="141B30"/>
          </a:solidFill>
          <a:ln w="12700">
            <a:solidFill>
              <a:srgbClr val="1F274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2103120"/>
            <a:ext cx="18745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4FE3D0"/>
                </a:solidFill>
              </a:rPr>
              <a:t>bell_circuit()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640080" y="2788920"/>
            <a:ext cx="187452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F2F4F8"/>
                </a:solidFill>
              </a:rPr>
              <a:t>Builds the H+CX Bell pair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2743200" y="2011680"/>
            <a:ext cx="2057400" cy="1554480"/>
          </a:xfrm>
          <a:prstGeom prst="roundRect">
            <a:avLst>
              <a:gd name="adj" fmla="val 4706"/>
            </a:avLst>
          </a:prstGeom>
          <a:solidFill>
            <a:srgbClr val="141B30"/>
          </a:solidFill>
          <a:ln w="12700">
            <a:solidFill>
              <a:srgbClr val="1F274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834640" y="2103120"/>
            <a:ext cx="18745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4FE3D0"/>
                </a:solidFill>
              </a:rPr>
              <a:t>measure_chsh()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2834640" y="2788920"/>
            <a:ext cx="187452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F2F4F8"/>
                </a:solidFill>
              </a:rPr>
              <a:t>4-angle CHSH sweep → S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937760" y="2011680"/>
            <a:ext cx="2057400" cy="1554480"/>
          </a:xfrm>
          <a:prstGeom prst="roundRect">
            <a:avLst>
              <a:gd name="adj" fmla="val 4706"/>
            </a:avLst>
          </a:prstGeom>
          <a:solidFill>
            <a:srgbClr val="141B30"/>
          </a:solidFill>
          <a:ln w="12700">
            <a:solidFill>
              <a:srgbClr val="1F274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0" y="2103120"/>
            <a:ext cx="18745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4FE3D0"/>
                </a:solidFill>
              </a:rPr>
              <a:t>measure_concurrence()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5029200" y="2788920"/>
            <a:ext cx="187452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F2F4F8"/>
                </a:solidFill>
              </a:rPr>
              <a:t>Density matrix → C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7132320" y="2011680"/>
            <a:ext cx="2057400" cy="1554480"/>
          </a:xfrm>
          <a:prstGeom prst="roundRect">
            <a:avLst>
              <a:gd name="adj" fmla="val 4706"/>
            </a:avLst>
          </a:prstGeom>
          <a:solidFill>
            <a:srgbClr val="141B30"/>
          </a:solidFill>
          <a:ln w="12700">
            <a:solidFill>
              <a:srgbClr val="1F274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223760" y="2103120"/>
            <a:ext cx="18745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4FE3D0"/>
                </a:solidFill>
              </a:rPr>
              <a:t>quantum_detect()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7223760" y="2788920"/>
            <a:ext cx="187452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F2F4F8"/>
                </a:solidFill>
              </a:rPr>
              <a:t>Bell-basis witness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9326880" y="2011680"/>
            <a:ext cx="2057400" cy="1554480"/>
          </a:xfrm>
          <a:prstGeom prst="roundRect">
            <a:avLst>
              <a:gd name="adj" fmla="val 4706"/>
            </a:avLst>
          </a:prstGeom>
          <a:solidFill>
            <a:srgbClr val="141B30"/>
          </a:solidFill>
          <a:ln w="12700">
            <a:solidFill>
              <a:srgbClr val="1F274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418320" y="2103120"/>
            <a:ext cx="18745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4FE3D0"/>
                </a:solidFill>
              </a:rPr>
              <a:t>classical_detect()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9418320" y="2788920"/>
            <a:ext cx="187452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F2F4F8"/>
                </a:solidFill>
              </a:rPr>
              <a:t>20k-trial Monte Carlo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48640" y="3931920"/>
            <a:ext cx="10835640" cy="822960"/>
          </a:xfrm>
          <a:prstGeom prst="roundRect">
            <a:avLst>
              <a:gd name="adj" fmla="val 8889"/>
            </a:avLst>
          </a:prstGeom>
          <a:solidFill>
            <a:srgbClr val="0F1526"/>
          </a:solidFill>
          <a:ln w="12700">
            <a:solidFill>
              <a:srgbClr val="1F274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22960" y="3931920"/>
            <a:ext cx="10332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2F4F8"/>
                </a:solidFill>
              </a:rPr>
              <a:t>All five methods live inside one class: EntanglementLab — a single reusable, importable Qiskit module rather than five disconnected scripts.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548640" y="4937760"/>
            <a:ext cx="10835640" cy="1280160"/>
          </a:xfrm>
          <a:prstGeom prst="roundRect">
            <a:avLst>
              <a:gd name="adj" fmla="val 5714"/>
            </a:avLst>
          </a:prstGeom>
          <a:solidFill>
            <a:srgbClr val="141B30"/>
          </a:solidFill>
          <a:ln w="12700">
            <a:solidFill>
              <a:srgbClr val="1F274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2960" y="4937760"/>
            <a:ext cx="103327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9AA3B8"/>
                </a:solidFill>
              </a:rPr>
              <a:t>AerSimulator requests a GPU backend at runtime and falls back to CPU automatically if unavailable — detected live, never hardcoded, so the script runs safely on any judge's machine.</a:t>
            </a:r>
            <a:endParaRPr lang="en-US" sz="135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52144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3B8"/>
                </a:solidFill>
              </a:rPr>
              <a:t>42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22860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8B7F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6 · YOUR PROJECT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2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End-to-End Workflow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2377440"/>
            <a:ext cx="2103120" cy="1371600"/>
          </a:xfrm>
          <a:prstGeom prst="roundRect">
            <a:avLst>
              <a:gd name="adj" fmla="val 5333"/>
            </a:avLst>
          </a:prstGeom>
          <a:solidFill>
            <a:srgbClr val="141B30"/>
          </a:solidFill>
          <a:ln w="12700">
            <a:solidFill>
              <a:srgbClr val="1F274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2468880"/>
            <a:ext cx="19202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F2F4F8"/>
                </a:solidFill>
              </a:rPr>
              <a:t>Build Bell circuit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2651760" y="3063240"/>
            <a:ext cx="182880" cy="0"/>
          </a:xfrm>
          <a:prstGeom prst="line">
            <a:avLst/>
          </a:prstGeom>
          <a:noFill/>
          <a:ln w="25400">
            <a:solidFill>
              <a:srgbClr val="4FE3D0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2834640" y="2377440"/>
            <a:ext cx="2103120" cy="1371600"/>
          </a:xfrm>
          <a:prstGeom prst="roundRect">
            <a:avLst>
              <a:gd name="adj" fmla="val 5333"/>
            </a:avLst>
          </a:prstGeom>
          <a:solidFill>
            <a:srgbClr val="141B30"/>
          </a:solidFill>
          <a:ln w="12700">
            <a:solidFill>
              <a:srgbClr val="1F274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926080" y="2468880"/>
            <a:ext cx="19202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F2F4F8"/>
                </a:solidFill>
              </a:rPr>
              <a:t>Sweep noise parameter (0→50%)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937760" y="3063240"/>
            <a:ext cx="182880" cy="0"/>
          </a:xfrm>
          <a:prstGeom prst="line">
            <a:avLst/>
          </a:prstGeom>
          <a:noFill/>
          <a:ln w="25400">
            <a:solidFill>
              <a:srgbClr val="4FE3D0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5120640" y="2377440"/>
            <a:ext cx="2103120" cy="1371600"/>
          </a:xfrm>
          <a:prstGeom prst="roundRect">
            <a:avLst>
              <a:gd name="adj" fmla="val 5333"/>
            </a:avLst>
          </a:prstGeom>
          <a:solidFill>
            <a:srgbClr val="141B30"/>
          </a:solidFill>
          <a:ln w="12700">
            <a:solidFill>
              <a:srgbClr val="1F274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212080" y="2468880"/>
            <a:ext cx="19202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F2F4F8"/>
                </a:solidFill>
              </a:rPr>
              <a:t>Run CHSH + concurrence at each level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7223760" y="3063240"/>
            <a:ext cx="182880" cy="0"/>
          </a:xfrm>
          <a:prstGeom prst="line">
            <a:avLst/>
          </a:prstGeom>
          <a:noFill/>
          <a:ln w="25400">
            <a:solidFill>
              <a:srgbClr val="4FE3D0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7406640" y="2377440"/>
            <a:ext cx="2103120" cy="1371600"/>
          </a:xfrm>
          <a:prstGeom prst="roundRect">
            <a:avLst>
              <a:gd name="adj" fmla="val 5333"/>
            </a:avLst>
          </a:prstGeom>
          <a:solidFill>
            <a:srgbClr val="141B30"/>
          </a:solidFill>
          <a:ln w="12700">
            <a:solidFill>
              <a:srgbClr val="1F274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498080" y="2468880"/>
            <a:ext cx="19202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F2F4F8"/>
                </a:solidFill>
              </a:rPr>
              <a:t>Run quantum &amp; classical detectors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9509760" y="3063240"/>
            <a:ext cx="182880" cy="0"/>
          </a:xfrm>
          <a:prstGeom prst="line">
            <a:avLst/>
          </a:prstGeom>
          <a:noFill/>
          <a:ln w="25400">
            <a:solidFill>
              <a:srgbClr val="4FE3D0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9692640" y="2377440"/>
            <a:ext cx="2103120" cy="1371600"/>
          </a:xfrm>
          <a:prstGeom prst="roundRect">
            <a:avLst>
              <a:gd name="adj" fmla="val 5333"/>
            </a:avLst>
          </a:prstGeom>
          <a:solidFill>
            <a:srgbClr val="141B30"/>
          </a:solidFill>
          <a:ln w="12700">
            <a:solidFill>
              <a:srgbClr val="1F274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784080" y="2468880"/>
            <a:ext cx="19202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F2F4F8"/>
                </a:solidFill>
              </a:rPr>
              <a:t>Plot &amp; compare all curves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548640" y="4206240"/>
            <a:ext cx="10789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9AA3B8"/>
                </a:solidFill>
              </a:rPr>
              <a:t>Same random seed (42) throughout — anyone re-running qt16_simulation.py gets these exact numbers back.</a:t>
            </a:r>
            <a:endParaRPr lang="en-US" sz="13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52144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3B8"/>
                </a:solidFill>
              </a:rPr>
              <a:t>43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22860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8B7F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6 · YOUR PROJECT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2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Qiskit Code, Explained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11064240" cy="2743200"/>
          </a:xfrm>
          <a:prstGeom prst="roundRect">
            <a:avLst>
              <a:gd name="adj" fmla="val 2667"/>
            </a:avLst>
          </a:prstGeom>
          <a:solidFill>
            <a:srgbClr val="0C1120"/>
          </a:solidFill>
          <a:ln w="12700">
            <a:solidFill>
              <a:srgbClr val="1F274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1783080"/>
            <a:ext cx="1051560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4FE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EntanglementLab:
</a:t>
            </a: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rgbClr val="F2F4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bell_circuit():
</a:t>
            </a: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rgbClr val="F2B84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qc.h(0); qc.cx(0, 1)
</a:t>
            </a: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rgbClr val="9A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qc.id(1)  # channel-transit marker
</a:t>
            </a: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rgbClr val="F2F4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measure_chsh(depol_p, amp_gamma):
</a:t>
            </a: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rgbClr val="9A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# Tsirelson-optimal angles: 0, 45 / 22.5, 67.5°
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548640" y="4526280"/>
            <a:ext cx="1106424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350" dirty="0">
                <a:solidFill>
                  <a:srgbClr val="F2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Qiskit builds the circuit as gate objects, then AerSimulator executes it (with a noise model, when depol_p or amp_gamma is nonzero) and returns measurement counts.</a:t>
            </a:r>
            <a:endParaRPr lang="en-US" sz="1350" dirty="0"/>
          </a:p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350" dirty="0">
                <a:solidFill>
                  <a:srgbClr val="F2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method returns exactly one number (S, C, or an error rate) per noise level — that's the atomic unit every graph in this project is built from.</a:t>
            </a:r>
            <a:endParaRPr lang="en-US" sz="135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52144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3B8"/>
                </a:solidFill>
              </a:rPr>
              <a:t>44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22860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8B7F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6 ·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2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EntanglementLab Class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1554480"/>
            <a:ext cx="10515600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500" dirty="0">
                <a:solidFill>
                  <a:srgbClr val="F2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a class, not five scripts? A shared simulator backend, consistent seed, and consistent noise-model construction across all experiments — reusability is 15% of the evaluation weighting.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500" dirty="0">
                <a:solidFill>
                  <a:srgbClr val="F2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public method takes noise parameters as arguments rather than hardcoding them, so the same object generates the entire noise sweep from 0% to 50%.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500" dirty="0">
                <a:solidFill>
                  <a:srgbClr val="F2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directly satisfies the brief's 'reusable entanglement module' deliverable.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500" dirty="0">
                <a:solidFill>
                  <a:srgbClr val="F2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 choice worth defending to judges: keeping generation (bell_circuit), analysis (measure_chsh/measure_concurrence), and application (quantum_detect/classical_detect) as separate methods on one class — separation of concerns without separation of context.</a:t>
            </a:r>
            <a:endParaRPr lang="en-US" sz="15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52144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3B8"/>
                </a:solidFill>
              </a:rPr>
              <a:t>45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22860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8B7F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6 ·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2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Functions, One by One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645920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141B30"/>
          </a:solidFill>
          <a:ln w="12700">
            <a:solidFill>
              <a:srgbClr val="1F274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1645920"/>
            <a:ext cx="4572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FE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bell_circuit()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0" y="1645920"/>
            <a:ext cx="5852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2F4F8"/>
                </a:solidFill>
              </a:rPr>
              <a:t>Returns the base H+CX circuit.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2542032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141B30"/>
          </a:solidFill>
          <a:ln w="12700">
            <a:solidFill>
              <a:srgbClr val="1F274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2542032"/>
            <a:ext cx="4572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FE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measure_chsh(depol_p, amp_gamma)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486400" y="2542032"/>
            <a:ext cx="5852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2F4F8"/>
                </a:solidFill>
              </a:rPr>
              <a:t>Runs 4 angle-combinations, returns 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3438144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141B30"/>
          </a:solidFill>
          <a:ln w="12700">
            <a:solidFill>
              <a:srgbClr val="1F274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" y="3438144"/>
            <a:ext cx="4572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FE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measure_concurrence(depol_p, amp_gamma)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486400" y="3438144"/>
            <a:ext cx="5852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2F4F8"/>
                </a:solidFill>
              </a:rPr>
              <a:t>Builds noisy ρ, returns Wootters C.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48640" y="4334256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141B30"/>
          </a:solidFill>
          <a:ln w="12700">
            <a:solidFill>
              <a:srgbClr val="1F274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2960" y="4334256"/>
            <a:ext cx="4572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FE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quantum_detect(reflectivity, clutter_noise)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486400" y="4334256"/>
            <a:ext cx="5852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2F4F8"/>
                </a:solidFill>
              </a:rPr>
              <a:t>Bell-basis witness detection error.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48640" y="5230368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141B30"/>
          </a:solidFill>
          <a:ln w="12700">
            <a:solidFill>
              <a:srgbClr val="1F274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2960" y="5230368"/>
            <a:ext cx="4572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FE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classical_detect(reflectivity, clutter_noise)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486400" y="5230368"/>
            <a:ext cx="5852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2F4F8"/>
                </a:solidFill>
              </a:rPr>
              <a:t>20,000-trial Monte Carlo baseline error.</a:t>
            </a:r>
            <a:endParaRPr lang="en-US" sz="13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52144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3B8"/>
                </a:solidFill>
              </a:rPr>
              <a:t>46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22860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8B7F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6 · 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2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Simulation Pipeline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1554480"/>
            <a:ext cx="10515600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600" dirty="0">
                <a:solidFill>
                  <a:srgbClr val="F2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Circuit definition (Qiskit) → Noise model injection (Aer) → Execution (shots) → Counts/statevector extraction → Metric computation (S, C, error rate) → Aggregation across noise levels → Plotting.</a:t>
            </a:r>
            <a:endParaRPr lang="en-US" sz="1600" dirty="0"/>
          </a:p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600" dirty="0">
                <a:solidFill>
                  <a:srgbClr val="F2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noise model is applied only to the 'signal' qubit at the channel-transit marker (qc.id(1)) — modeling a realistic scenario where one photon travels through a lossy/noisy channel while the other stays local.</a:t>
            </a:r>
            <a:endParaRPr lang="en-US" sz="1600" dirty="0"/>
          </a:p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600" dirty="0">
                <a:solidFill>
                  <a:srgbClr val="F2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randomness (shot sampling, Monte Carlo trials) is seeded (seed=42) for full reproducibility — a direct answer to 'how do we know your numbers are real?'</a:t>
            </a:r>
            <a:endParaRPr lang="en-US" sz="16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52144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3B8"/>
                </a:solidFill>
              </a:rPr>
              <a:t>47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22860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8B7F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6 · 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2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the Graphs Are Generated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1554480"/>
            <a:ext cx="10515600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600" dirty="0">
                <a:solidFill>
                  <a:srgbClr val="F2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each of several depol_p values between 0 and 0.5, call measure_chsh() and measure_concurrence(); collect (noise, S) and (noise, C) pairs.</a:t>
            </a:r>
            <a:endParaRPr lang="en-US" sz="1600" dirty="0"/>
          </a:p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600" dirty="0">
                <a:solidFill>
                  <a:srgbClr val="F2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the detection comparison, sweep clutter_noise and call both quantum_detect() and classical_detect() at each level, using the same noise value for a fair comparison.</a:t>
            </a:r>
            <a:endParaRPr lang="en-US" sz="1600" dirty="0"/>
          </a:p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600" dirty="0">
                <a:solidFill>
                  <a:srgbClr val="F2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plotted point is a real simulator output — not a hand-fitted curve — which is explicitly called out in the project's 'Scope, Honestly Stated' section.</a:t>
            </a:r>
            <a:endParaRPr lang="en-US" sz="1600" dirty="0"/>
          </a:p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600" dirty="0">
                <a:solidFill>
                  <a:srgbClr val="F2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slide's message to judges: the graphs are a direct, mechanical readout of the class's methods, nothing more.</a:t>
            </a:r>
            <a:endParaRPr lang="en-US" sz="16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52144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3B8"/>
                </a:solidFill>
              </a:rPr>
              <a:t>48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22860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8B7F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6 · 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2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CHSH vs. Channel Noise — Reading the Curve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645920"/>
            <a:ext cx="5120640" cy="3931920"/>
          </a:xfrm>
          <a:prstGeom prst="roundRect">
            <a:avLst>
              <a:gd name="adj" fmla="val 1860"/>
            </a:avLst>
          </a:prstGeom>
          <a:solidFill>
            <a:srgbClr val="141B30"/>
          </a:solidFill>
          <a:ln w="12700">
            <a:solidFill>
              <a:srgbClr val="1F274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18288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4FE3D0"/>
                </a:solidFill>
              </a:rPr>
              <a:t>Key data points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22960" y="2286000"/>
            <a:ext cx="466344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400" dirty="0">
                <a:solidFill>
                  <a:srgbClr val="F2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0% noise: S = 2.8545 (near Tsirelson)</a:t>
            </a:r>
            <a:endParaRPr lang="en-US" sz="1400" dirty="0"/>
          </a:p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400" dirty="0">
                <a:solidFill>
                  <a:srgbClr val="F2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~12% noise: S crosses below 2 — classical bound</a:t>
            </a:r>
            <a:endParaRPr lang="en-US" sz="1400" dirty="0"/>
          </a:p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400" dirty="0">
                <a:solidFill>
                  <a:srgbClr val="F2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50% noise: S = 0.42 — fully classical regime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943600" y="1645920"/>
            <a:ext cx="5669280" cy="3931920"/>
          </a:xfrm>
          <a:prstGeom prst="roundRect">
            <a:avLst>
              <a:gd name="adj" fmla="val 1860"/>
            </a:avLst>
          </a:prstGeom>
          <a:solidFill>
            <a:srgbClr val="0F1526"/>
          </a:solidFill>
          <a:ln w="12700">
            <a:solidFill>
              <a:srgbClr val="1F274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217920" y="182880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2B84B"/>
                </a:solidFill>
              </a:rPr>
              <a:t>Why the shape matters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217920" y="2240280"/>
            <a:ext cx="521208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F2F4F8"/>
                </a:solidFill>
              </a:rPr>
              <a:t>The decay is smooth and monotonic — exactly what depolarizing-channel theory predicts (S scales roughly linearly with (1−p) near small p). A smooth, theory-consistent curve is itself evidence the noise model and CHSH computation are implemented correctly, not just plotted to look nice.</a:t>
            </a:r>
            <a:endParaRPr lang="en-US" sz="135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52144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3B8"/>
                </a:solidFill>
              </a:rPr>
              <a:t>49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22860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8B7F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6 ·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41148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2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Concurrence vs. Channel Noise — Reading the Curve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645920"/>
            <a:ext cx="5120640" cy="3931920"/>
          </a:xfrm>
          <a:prstGeom prst="roundRect">
            <a:avLst>
              <a:gd name="adj" fmla="val 1860"/>
            </a:avLst>
          </a:prstGeom>
          <a:solidFill>
            <a:srgbClr val="141B30"/>
          </a:solidFill>
          <a:ln w="12700">
            <a:solidFill>
              <a:srgbClr val="1F274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18288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4FE3D0"/>
                </a:solidFill>
              </a:rPr>
              <a:t>Key data points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22960" y="2286000"/>
            <a:ext cx="466344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400" dirty="0">
                <a:solidFill>
                  <a:srgbClr val="F2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0% noise: C = 1.0 (maximal entanglement)</a:t>
            </a:r>
            <a:endParaRPr lang="en-US" sz="1400" dirty="0"/>
          </a:p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400" dirty="0">
                <a:solidFill>
                  <a:srgbClr val="F2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50% noise: C = 0.1466</a:t>
            </a:r>
            <a:endParaRPr lang="en-US" sz="1400" dirty="0"/>
          </a:p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400" dirty="0">
                <a:solidFill>
                  <a:srgbClr val="F2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sharp threshold — unlike CHSH, concurrence never 'passes/fails', it just shrinks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943600" y="1645920"/>
            <a:ext cx="5669280" cy="3931920"/>
          </a:xfrm>
          <a:prstGeom prst="roundRect">
            <a:avLst>
              <a:gd name="adj" fmla="val 1860"/>
            </a:avLst>
          </a:prstGeom>
          <a:solidFill>
            <a:srgbClr val="0F1526"/>
          </a:solidFill>
          <a:ln w="12700">
            <a:solidFill>
              <a:srgbClr val="1F274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217920" y="182880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2B84B"/>
                </a:solidFill>
              </a:rPr>
              <a:t>Why run both metrics?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217920" y="2240280"/>
            <a:ext cx="521208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F2F4F8"/>
                </a:solidFill>
              </a:rPr>
              <a:t>CHSH answers 'is this still provably non-classical?' (a threshold question). Concurrence answers 'how entangled is it, precisely?' (a continuous question). Together they cross-validate each other — both point to entanglement surviving at low noise and vanishing at high noise, from two mathematically independent derivations.</a:t>
            </a:r>
            <a:endParaRPr lang="en-US" sz="135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52144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3B8"/>
                </a:solidFill>
              </a:rPr>
              <a:t>50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22860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8B7F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6 ·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2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Detection Error Analysis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1554480"/>
            <a:ext cx="10515600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600" dirty="0">
                <a:solidFill>
                  <a:srgbClr val="F2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Quantum witness detector (cyan) keeps a lower error probability than the classical Monte Carlo baseline (red) across low-to-moderate clutter — the 'quantum advantage region'.</a:t>
            </a:r>
            <a:endParaRPr lang="en-US" sz="1600" dirty="0"/>
          </a:p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600" dirty="0">
                <a:solidFill>
                  <a:srgbClr val="F2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Both curves converge to 0.5 (a coin flip) as noise dominates — expected, since all usable correlation is eventually destroyed regardless of detection strategy.</a:t>
            </a:r>
            <a:endParaRPr lang="en-US" sz="1600" dirty="0"/>
          </a:p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600" dirty="0">
                <a:solidFill>
                  <a:srgbClr val="F2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classical baseline is built from a genuine 20,000-trial Monte Carlo simulation under identical noise, not a fitted curve chosen to look worse — this is explicitly called out in the project's honesty section, and is a strong answer if a judge asks 'is this comparison rigged?'</a:t>
            </a:r>
            <a:endParaRPr lang="en-US" sz="160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52144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3B8"/>
                </a:solidFill>
              </a:rPr>
              <a:t>51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526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237744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kern="0" spc="300" dirty="0">
                <a:solidFill>
                  <a:srgbClr val="4FE3D0"/>
                </a:solidFill>
              </a:rPr>
              <a:t>MODULE 7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31520" y="2788920"/>
            <a:ext cx="10515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2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 Context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731520" y="39319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9AA3B8"/>
                </a:solidFill>
              </a:rPr>
              <a:t>Why this matters beyond the simulation — real physics, real applications, and honest limits.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9692640" y="1097280"/>
            <a:ext cx="2011680" cy="2011680"/>
          </a:xfrm>
          <a:prstGeom prst="ellipse">
            <a:avLst/>
          </a:prstGeom>
          <a:solidFill>
            <a:srgbClr val="4FE3D0">
              <a:alpha val="15000"/>
            </a:srgbClr>
          </a:solidFill>
          <a:ln w="25400">
            <a:solidFill>
              <a:srgbClr val="4FE3D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241280" y="1645920"/>
            <a:ext cx="914400" cy="914400"/>
          </a:xfrm>
          <a:prstGeom prst="ellipse">
            <a:avLst/>
          </a:prstGeom>
          <a:solidFill>
            <a:srgbClr val="4FE3D0">
              <a:alpha val="60000"/>
            </a:srgbClr>
          </a:solidFill>
          <a:ln/>
        </p:spPr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52144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3B8"/>
                </a:solidFill>
              </a:rPr>
              <a:t>52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22860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8B7F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7 · RESEARCH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2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Quantum Beats Classical Here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1554480"/>
            <a:ext cx="10515600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600" dirty="0">
                <a:solidFill>
                  <a:srgbClr val="F2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Entangled correlations are stronger than any classical correlation can be — that's the CHSH result, not an assumption.</a:t>
            </a:r>
            <a:endParaRPr lang="en-US" sz="1600" dirty="0"/>
          </a:p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600" dirty="0">
                <a:solidFill>
                  <a:srgbClr val="F2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detection, this extra correlation lets the quantum witness distinguish 'signal present' from 'signal absent' more reliably under the same noise than a classical strategy can.</a:t>
            </a:r>
            <a:endParaRPr lang="en-US" sz="1600" dirty="0"/>
          </a:p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600" dirty="0">
                <a:solidFill>
                  <a:srgbClr val="F2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advantage is not unlimited: it shrinks as noise grows, and vanishes once the state is too mixed to be useful — a physically honest result, not an idealized one.</a:t>
            </a:r>
            <a:endParaRPr lang="en-US" sz="1600" dirty="0"/>
          </a:p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600" dirty="0">
                <a:solidFill>
                  <a:srgbClr val="F2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mirrors the real research finding behind quantum illumination (Lloyd, 2008): even entanglement too weak to violate a Bell inequality can still provide a measurable detection advantage.</a:t>
            </a:r>
            <a:endParaRPr lang="en-US" sz="160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52144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3B8"/>
                </a:solidFill>
              </a:rPr>
              <a:t>53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22860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8B7F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7 · RESEARCH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2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Quantum Illumination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1554480"/>
            <a:ext cx="10515600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500" dirty="0">
                <a:solidFill>
                  <a:srgbClr val="F2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real, published protocol (Lloyd, 2008): entangle two photons, send one ('signal') toward a possible target through noise/clutter, keep the other ('idler') at home, then jointly measure both.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500" dirty="0">
                <a:solidFill>
                  <a:srgbClr val="F2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surviving correlation between signal and idler helps detect a target even when the returning signal is buried in noise — beating what's achievable with an unentangled signal of the same energy.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500" dirty="0">
                <a:solidFill>
                  <a:srgbClr val="F2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QT-1.6 builds an honest discrete-variable qubit stand-in for this: entangle two qubits, pass the signal qubit through amplitude damping + depolarizing noise, then use a Bell-basis measurement as an entanglement witness.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500" dirty="0">
                <a:solidFill>
                  <a:srgbClr val="F2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is explicitly not a full continuous-variable QI system (which uses squeezed light and homodyne detection) — it's a qubit analogy inspired by the same principle, useful for demonstrating the effect.</a:t>
            </a:r>
            <a:endParaRPr lang="en-US" sz="1500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52144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3B8"/>
                </a:solidFill>
              </a:rPr>
              <a:t>54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22860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8B7F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7 · RESEARCH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2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5394960" cy="1737360"/>
          </a:xfrm>
          <a:prstGeom prst="roundRect">
            <a:avLst>
              <a:gd name="adj" fmla="val 4211"/>
            </a:avLst>
          </a:prstGeom>
          <a:solidFill>
            <a:srgbClr val="141B30"/>
          </a:solidFill>
          <a:ln w="12700">
            <a:solidFill>
              <a:srgbClr val="1F274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856232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4FE3D0"/>
                </a:solidFill>
              </a:rPr>
              <a:t>Quantum radar / LIDAR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77240" y="2331720"/>
            <a:ext cx="493776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F2F4F8"/>
                </a:solidFill>
              </a:rPr>
              <a:t>Detecting low-reflectivity targets in high-noise/clutter environments.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217920" y="1691640"/>
            <a:ext cx="5394960" cy="1737360"/>
          </a:xfrm>
          <a:prstGeom prst="roundRect">
            <a:avLst>
              <a:gd name="adj" fmla="val 4211"/>
            </a:avLst>
          </a:prstGeom>
          <a:solidFill>
            <a:srgbClr val="141B30"/>
          </a:solidFill>
          <a:ln w="12700">
            <a:solidFill>
              <a:srgbClr val="1F274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46520" y="1856232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4FE3D0"/>
                </a:solidFill>
              </a:rPr>
              <a:t>Quantum key distribution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446520" y="2331720"/>
            <a:ext cx="493776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F2F4F8"/>
                </a:solidFill>
              </a:rPr>
              <a:t>Entanglement-based protocols (e.g. E91) use Bell-test violations to certify security.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3657600"/>
            <a:ext cx="5394960" cy="1737360"/>
          </a:xfrm>
          <a:prstGeom prst="roundRect">
            <a:avLst>
              <a:gd name="adj" fmla="val 4211"/>
            </a:avLst>
          </a:prstGeom>
          <a:solidFill>
            <a:srgbClr val="141B30"/>
          </a:solidFill>
          <a:ln w="12700">
            <a:solidFill>
              <a:srgbClr val="1F274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77240" y="3822192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4FE3D0"/>
                </a:solidFill>
              </a:rPr>
              <a:t>Quantum sensing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777240" y="4297680"/>
            <a:ext cx="493776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F2F4F8"/>
                </a:solidFill>
              </a:rPr>
              <a:t>Entangled probes can beat classical shot-noise limits in precision measurement.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217920" y="3657600"/>
            <a:ext cx="5394960" cy="1737360"/>
          </a:xfrm>
          <a:prstGeom prst="roundRect">
            <a:avLst>
              <a:gd name="adj" fmla="val 4211"/>
            </a:avLst>
          </a:prstGeom>
          <a:solidFill>
            <a:srgbClr val="141B30"/>
          </a:solidFill>
          <a:ln w="12700">
            <a:solidFill>
              <a:srgbClr val="1F274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46520" y="3822192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4FE3D0"/>
                </a:solidFill>
              </a:rPr>
              <a:t>Quantum networking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446520" y="4297680"/>
            <a:ext cx="493776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F2F4F8"/>
                </a:solidFill>
              </a:rPr>
              <a:t>Entanglement distribution and purification underlie future quantum repeaters.</a:t>
            </a:r>
            <a:endParaRPr lang="en-US" sz="1300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52144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3B8"/>
                </a:solidFill>
              </a:rPr>
              <a:t>55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22860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8B7F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7 · RESEARCH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2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Future Work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1554480"/>
            <a:ext cx="10515600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600" dirty="0">
                <a:solidFill>
                  <a:srgbClr val="F2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 on real IBM Quantum hardware to capture gate-calibration errors this noise model doesn't include.</a:t>
            </a:r>
            <a:endParaRPr lang="en-US" sz="1600" dirty="0"/>
          </a:p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600" dirty="0">
                <a:solidFill>
                  <a:srgbClr val="F2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Extend to continuous-variable quantum illumination with squeezed light for a hardware-realistic radar comparison.</a:t>
            </a:r>
            <a:endParaRPr lang="en-US" sz="1600" dirty="0"/>
          </a:p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600" dirty="0">
                <a:solidFill>
                  <a:srgbClr val="F2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more noise channels (thermal relaxation, crosstalk) for a more complete decoherence picture.</a:t>
            </a:r>
            <a:endParaRPr lang="en-US" sz="1600" dirty="0"/>
          </a:p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600" dirty="0">
                <a:solidFill>
                  <a:srgbClr val="F2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multi-qubit (GHZ-state) entanglement for richer correlation structures beyond pairwise Bell states.</a:t>
            </a:r>
            <a:endParaRPr lang="en-US" sz="1600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52144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3B8"/>
                </a:solidFill>
              </a:rPr>
              <a:t>56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22860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8B7F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7 · RESEARCH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2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1554480"/>
            <a:ext cx="1106424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450" dirty="0">
                <a:solidFill>
                  <a:srgbClr val="F2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J.S. Bell, "On the Einstein Podolsky Rosen Paradox," Physics Physique Fizika, 1964.</a:t>
            </a:r>
            <a:endParaRPr lang="en-US" sz="1450" dirty="0"/>
          </a:p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450" dirty="0">
                <a:solidFill>
                  <a:srgbClr val="F2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J.F. Clauser, M.A. Horne, A. Shimony, R.A. Holt, "Proposed Experiment to Test Local Hidden-Variable Theories," PRL, 1969.</a:t>
            </a:r>
            <a:endParaRPr lang="en-US" sz="1450" dirty="0"/>
          </a:p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450" dirty="0">
                <a:solidFill>
                  <a:srgbClr val="F2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B.S. Tsirelson, "Quantum generalizations of Bell's inequality," Letters in Mathematical Physics, 1980.</a:t>
            </a:r>
            <a:endParaRPr lang="en-US" sz="1450" dirty="0"/>
          </a:p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450" dirty="0">
                <a:solidFill>
                  <a:srgbClr val="F2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W.K. Wootters, "Entanglement of Formation of an Arbitrary State of Two Qubits," PRL, 1998.</a:t>
            </a:r>
            <a:endParaRPr lang="en-US" sz="1450" dirty="0"/>
          </a:p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450" dirty="0">
                <a:solidFill>
                  <a:srgbClr val="F2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S. Lloyd, "Enhanced Sensitivity of Photodetection via Quantum Illumination," Science, 2008.</a:t>
            </a:r>
            <a:endParaRPr lang="en-US" sz="1450" dirty="0"/>
          </a:p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450" dirty="0">
                <a:solidFill>
                  <a:srgbClr val="F2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Qiskit / Qiskit Aer documentation, IBM Quantum.</a:t>
            </a:r>
            <a:endParaRPr lang="en-US" sz="14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5719</Words>
  <Application>Microsoft Office PowerPoint</Application>
  <PresentationFormat>Widescreen</PresentationFormat>
  <Paragraphs>538</Paragraphs>
  <Slides>55</Slides>
  <Notes>55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55</vt:i4>
      </vt:variant>
    </vt:vector>
  </HeadingPairs>
  <TitlesOfParts>
    <vt:vector size="59" baseType="lpstr">
      <vt:lpstr>Arial</vt:lpstr>
      <vt:lpstr>Cambria Math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PRIYANRAJ J</cp:lastModifiedBy>
  <cp:revision>2</cp:revision>
  <dcterms:created xsi:type="dcterms:W3CDTF">2026-07-10T11:50:38Z</dcterms:created>
  <dcterms:modified xsi:type="dcterms:W3CDTF">2026-07-10T12:10:20Z</dcterms:modified>
</cp:coreProperties>
</file>