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42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71E9-6935-058B-DC6A-89104A12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6FEF0-1124-19F2-F245-52B171C3E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F61E3-63B6-8BA7-D522-66BD488ED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E3AF4-D60F-FB97-3083-C7D9ECA4F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1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m9SbY-gtJX0roYQe4DzNpR33cR3Ao83Y?usp=sharing" TargetMode="External"/><Relationship Id="rId7" Type="http://schemas.openxmlformats.org/officeDocument/2006/relationships/hyperlink" Target="https://github.com/priyanraj-hub/rithackath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priyanrajj-hub.github.io/rithackath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377440" cy="2377440"/>
          </a:xfrm>
          <a:prstGeom prst="ellipse">
            <a:avLst/>
          </a:prstGeom>
          <a:solidFill>
            <a:srgbClr val="1D355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206240"/>
            <a:ext cx="1645920" cy="1645920"/>
          </a:xfrm>
          <a:prstGeom prst="ellipse">
            <a:avLst/>
          </a:prstGeom>
          <a:solidFill>
            <a:srgbClr val="4CC9F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389120"/>
            <a:ext cx="2926080" cy="2926080"/>
          </a:xfrm>
          <a:prstGeom prst="ellipse">
            <a:avLst/>
          </a:prstGeom>
          <a:solidFill>
            <a:srgbClr val="1D3557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457200" cy="45720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914400"/>
            <a:ext cx="457200" cy="457200"/>
          </a:xfrm>
          <a:prstGeom prst="ellipse">
            <a:avLst/>
          </a:prstGeom>
          <a:solidFill>
            <a:srgbClr val="12123B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143000"/>
            <a:ext cx="182880" cy="0"/>
          </a:xfrm>
          <a:prstGeom prst="line">
            <a:avLst/>
          </a:prstGeom>
          <a:noFill/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QT-1.6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Quantum Entanglement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Correlation Statistics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discrete-variable Qiskit simulation platform: entanglement generation, Bell-CHSH verification, noise-channel decay, and a quantum-vs-classical detection benchmark inspired by quantum illumination.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QUANT-A-THON 2026   |   Pre-Screening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Entanglement Different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walkthrough before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Spinning Coin (Superposition)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isn't 0 or 1 until measured — like a coin still spinning in the air. It genuinely holds both possibilities at once: |ψ⟩ = α|0⟩ + β|1⟩.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46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 Linked Coins (Entanglement)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Hadamard gate then a CNOT gate to two qubits and you get a Bell state: (|00⟩ + |11⟩)/√2. Measure one, and the other's outcome is instantly fixed — even across distance.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8463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Proving It Isn't a Trick (CHSH / Bell Test)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qubits secretly had fixed values all along (classical hidden variables), a correlation score S could never exceed 2. Our entangled qubits scored S ≈ 2.85 — breaking the classical limit and confirming genuine entanglement.</a:t>
            </a:r>
            <a:endParaRPr lang="en-US" sz="1150" dirty="0"/>
          </a:p>
        </p:txBody>
      </p:sp>
      <p:pic>
        <p:nvPicPr>
          <p:cNvPr id="13" name="Image 0" descr="plot_1_chsh_vs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508760"/>
            <a:ext cx="4754880" cy="289864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03720" y="452628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12123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4663440"/>
            <a:ext cx="4297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2 is the hard classical ceiling. Our clean Bell pair hits S ≈ 2.85, right at the quantum (Tsirelson) limit of 2√2 ≈ 2.828 — then decays smoothly as we add realistic channel noise, exactly as quantum theory predicts.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Reusable Entanglement Lab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importable Qiskit module powers every experiment in this deck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1553"/>
            </a:avLst>
          </a:prstGeom>
          <a:solidFill>
            <a:srgbClr val="0B0B26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EntanglementLab: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2481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bell_circuit():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qc.h(0); qc.cx(0, 1)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115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qc.id(1)  # channel transit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5750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measure_chsh(depol_p, amp_g):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Tsirelson-optimal angles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2384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returns CHSH S value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55701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790188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measure_concurrence(...):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exact Wootters concurrence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25653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from noisy density matrix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48970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72287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quantum_detect(...):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956048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Bell-basis entanglement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18922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witness under noise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42239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65556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classical_detect(...):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88873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fair Monte Carlo baseline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6121908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same noise, 20,000 trials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03720" y="1600200"/>
            <a:ext cx="411480" cy="4114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1581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Density-Matrix Simulation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turns a pure state into a mixed state — concurrence and fidelity require a full density matrix, not just a state vector.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03720" y="2770632"/>
            <a:ext cx="411480" cy="4114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770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2752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GPU-Aware Execution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0" y="309067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AerSimulator auto-detects a GPU backend at runtime and falls back cleanly to CPU — adaptive, not hardcoded.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3941064"/>
            <a:ext cx="411480" cy="4114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941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0" y="39227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Noise Channels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426110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Depolarizing error (background clutter) composed with amplitude damping (photon/signal loss) on the transmitted qubit.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5111496"/>
            <a:ext cx="411480" cy="4114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5111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50932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Classical Baseline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0" y="543153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detector is a real Monte Carlo simulation under identical noise — not a fitted formula.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Outcome: Quantum vs. Classical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Qiskit density-matrix runs vs. a genuine Monte Carlo classical baseline — same noise, same trial conditions</a:t>
            </a:r>
            <a:endParaRPr lang="en-US" sz="1250" dirty="0"/>
          </a:p>
        </p:txBody>
      </p:sp>
      <p:pic>
        <p:nvPicPr>
          <p:cNvPr id="4" name="Image 0" descr="plot_3_quantum_vs_classical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9037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4173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D3557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detection error than the classical baseline across low-to-moderate clutter levels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27889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CHSH  S ≈ 2.85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the classical bound (2) and lands at the quantum Tsirelson limit (2√2 ≈ 2.828)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41605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4279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1.0 → 0.15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63840" y="46817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Wootters concurrence from the noisy density matrix confirms entanglement decay independently of CHSH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806440"/>
            <a:ext cx="111099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three independent metrics — CHSH, concurrence, and detection error — all agree that entanglement-derived correlation provides a measurable, defensible edge over classical detection under identical noise, shrinking as noise grows to dominate both channels.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Technical Edge</a:t>
            </a:r>
            <a:endParaRPr lang="en-US" sz="3000" dirty="0"/>
          </a:p>
        </p:txBody>
      </p:sp>
      <p:pic>
        <p:nvPicPr>
          <p:cNvPr id="3" name="Image 0" descr="plot_2_concurrence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120640" cy="3127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53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entanglement-decay confirmation via exact Wootters concurrence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43600" y="1417320"/>
            <a:ext cx="5715000" cy="1143000"/>
          </a:xfrm>
          <a:prstGeom prst="roundRect">
            <a:avLst>
              <a:gd name="adj" fmla="val 5600"/>
            </a:avLst>
          </a:prstGeom>
          <a:solidFill>
            <a:srgbClr val="1D3557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5270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Cross-Validating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72200" y="18562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stop at one plot. We independently confirm entanglement decay through CHSH, concurrence, AND detection error — all telling the same physical story.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670048"/>
            <a:ext cx="5715000" cy="1143000"/>
          </a:xfrm>
          <a:prstGeom prst="roundRect">
            <a:avLst>
              <a:gd name="adj" fmla="val 5600"/>
            </a:avLst>
          </a:prstGeom>
          <a:solidFill>
            <a:srgbClr val="1D3557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27797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Scope, Not Oversold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72200" y="3108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discrete-variable simulation inspired by quantum illumination (Lloyd 2008) — not a full continuous-variable optical implementation. We say so directly.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922776"/>
            <a:ext cx="5715000" cy="1143000"/>
          </a:xfrm>
          <a:prstGeom prst="roundRect">
            <a:avLst>
              <a:gd name="adj" fmla="val 5600"/>
            </a:avLst>
          </a:prstGeom>
          <a:solidFill>
            <a:srgbClr val="1D3557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40325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Debugged, Not Just Copied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72200" y="436168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version had noise attached to a qubit with no gate to trigger it — silently inert. We caught it via a sanity-check assertion and fixed the physical channel model.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5175504"/>
            <a:ext cx="5715000" cy="1143000"/>
          </a:xfrm>
          <a:prstGeom prst="roundRect">
            <a:avLst>
              <a:gd name="adj" fmla="val 5600"/>
            </a:avLst>
          </a:prstGeom>
          <a:solidFill>
            <a:srgbClr val="1D3557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52852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Hardware Use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72200" y="561441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AerSimulator requests a GPU backend and falls back to CPU automatically — the same script is safe on any judge's machine.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D3557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029200"/>
            <a:ext cx="2743200" cy="2743200"/>
          </a:xfrm>
          <a:prstGeom prst="ellipse">
            <a:avLst/>
          </a:prstGeom>
          <a:solidFill>
            <a:srgbClr val="4CC9F0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10561320" cy="1554480"/>
          </a:xfrm>
          <a:prstGeom prst="roundRect">
            <a:avLst>
              <a:gd name="adj" fmla="val 4706"/>
            </a:avLst>
          </a:prstGeom>
          <a:solidFill>
            <a:srgbClr val="1A1A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93392"/>
            <a:ext cx="10104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verified Qiskit pipeline generated genuine entangled Bell pairs, proved entanglement via CHSH (S ≈ 2.85, beating the classical bound of 2), confirmed decay via exact concurrence, and demonstrated a measurable quantum-detection advantage over a fairly-simulated classical baseline under identical noise.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13048"/>
            <a:ext cx="109728" cy="10972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03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continuous-variable quantum illumination (squeezed light, homodyne detection)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15968"/>
            <a:ext cx="109728" cy="10972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CHSH and detection experiments on real IBM Quantum hardware backends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18888"/>
            <a:ext cx="109728" cy="10972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09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noise models: thermal relaxation, correlated/non-Markovian channel noise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321808"/>
            <a:ext cx="109728" cy="109728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2120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EntanglementLab as a pip-installable module for reuse in other noise-benchmarking tasks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/ Team Leader Name  •  QT-1.6  •  RIT Quant-A-Thon 2026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Verified Execution Output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console output from running the notebook top-to-bottom, zero errors — not a mockup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166360"/>
          </a:xfrm>
          <a:prstGeom prst="roundRect">
            <a:avLst>
              <a:gd name="adj" fmla="val 1081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3619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53619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53619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463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qt16_simulation.py — Python 3 · executed successfully · Runtime: CPU (AerSimulator)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GPU backend unavailable; using CPU. (expected on most machines)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73859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[Sanity check] Ideal Bell state amplitudes: [0.7071+0j 0 0 0.7071+0j]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73198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[Sanity check] PASSED: Bell state |Phi+&gt; correctly constructed.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472538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671877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[Experiment 1] CHSH correlation statistics across noise levels...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871216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depol_p=0.000  -&gt;  CHSH S = 2.8545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70555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depol_p=0.136  -&gt;  CHSH S = 1.8965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69894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depol_p=0.500  -&gt;  CHSH S = 0.4170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69234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668573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[Experiment 2] Concurrence decay across noise levels...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867912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depol_p=0.000  -&gt;  Concurrence = 1.0000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067251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depol_p=0.273  -&gt;  Concurrence = 0.5029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266590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depol_p=0.500  -&gt;  Concurrence = 0.1466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465930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665269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[Experiment 3] Quantum vs Classical detection sweep...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864608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clutter=0.050  -&gt;  Q_error=0.3918   C_error=0.4656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063947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clutter=0.400  -&gt;  Q_error=0.4332   C_error=0.4953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263286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clutter=0.900  -&gt;  Q_error=0.4852   C_error=0.4649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5462626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5661965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Saved plots: plot_1_chsh_vs_noise.png, plot_2_concurrence_decay.png,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861304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plot_3_quantum_vs_classical_error.png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6060643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Raw results saved to qt16_results.npz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6259982"/>
            <a:ext cx="104241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DONE. All deliverables generated successfully.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log and the executed .ipynb (with these exact outputs saved inline) are included in the submission folder.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2C13E-8AE8-D063-32D5-DC0254CF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28DFA5F-6D1C-A158-23A6-C6696FC6AE9D}"/>
              </a:ext>
            </a:extLst>
          </p:cNvPr>
          <p:cNvSpPr txBox="1"/>
          <p:nvPr/>
        </p:nvSpPr>
        <p:spPr>
          <a:xfrm>
            <a:off x="144378" y="471"/>
            <a:ext cx="370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ALL LINKS AND PROOFS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A9D7B0-BAA1-3111-ED4A-DAA64600416F}"/>
              </a:ext>
            </a:extLst>
          </p:cNvPr>
          <p:cNvSpPr txBox="1"/>
          <p:nvPr/>
        </p:nvSpPr>
        <p:spPr>
          <a:xfrm>
            <a:off x="0" y="1156194"/>
            <a:ext cx="11054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hlinkClick r:id="rId3"/>
              </a:rPr>
              <a:t>https://colab.research.google.com/drive/1m9SbY-gtJX0roYQe4DzNpR33cR3Ao83Y?usp=sharing</a:t>
            </a:r>
            <a:endParaRPr lang="en-IN" sz="20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5D153E-1501-8B2B-C19A-378EA8994C19}"/>
              </a:ext>
            </a:extLst>
          </p:cNvPr>
          <p:cNvSpPr txBox="1"/>
          <p:nvPr/>
        </p:nvSpPr>
        <p:spPr>
          <a:xfrm>
            <a:off x="441158" y="756084"/>
            <a:ext cx="3806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GOOGLE COLAB  LINK 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EB2A82-70CE-8AF8-D5F4-E3E10FD4C05C}"/>
              </a:ext>
            </a:extLst>
          </p:cNvPr>
          <p:cNvSpPr txBox="1"/>
          <p:nvPr/>
        </p:nvSpPr>
        <p:spPr>
          <a:xfrm>
            <a:off x="569495" y="2043608"/>
            <a:ext cx="2938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WEBSITE LINK: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457627-137C-6514-2AE3-19C4CBD34406}"/>
              </a:ext>
            </a:extLst>
          </p:cNvPr>
          <p:cNvSpPr txBox="1"/>
          <p:nvPr/>
        </p:nvSpPr>
        <p:spPr>
          <a:xfrm>
            <a:off x="577732" y="2528158"/>
            <a:ext cx="75843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linkClick r:id="rId4"/>
              </a:rPr>
              <a:t>https://priyanrajj-hub.github.io/rithackathon/</a:t>
            </a:r>
            <a:endParaRPr lang="en-IN" sz="2000" dirty="0"/>
          </a:p>
          <a:p>
            <a:endParaRPr lang="en-IN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9555002-7D3B-5446-B7DC-2666C4E29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433" y="846155"/>
            <a:ext cx="2118930" cy="182688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26B4064-A852-CDE8-09F7-E51D4D755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4173" y="4643256"/>
            <a:ext cx="2450190" cy="210415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5AD4F3B-3E44-F701-8F94-CC00D631B1B7}"/>
              </a:ext>
            </a:extLst>
          </p:cNvPr>
          <p:cNvSpPr txBox="1"/>
          <p:nvPr/>
        </p:nvSpPr>
        <p:spPr>
          <a:xfrm>
            <a:off x="10055491" y="70726"/>
            <a:ext cx="3041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REPO QR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79D259-7D77-9771-B1E6-75B3A3CCC382}"/>
              </a:ext>
            </a:extLst>
          </p:cNvPr>
          <p:cNvSpPr txBox="1"/>
          <p:nvPr/>
        </p:nvSpPr>
        <p:spPr>
          <a:xfrm>
            <a:off x="9953328" y="4090782"/>
            <a:ext cx="2537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PPT DETAIL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AFC89C-03B7-1C5B-DCC4-C8F71BCF8CA2}"/>
              </a:ext>
            </a:extLst>
          </p:cNvPr>
          <p:cNvSpPr txBox="1"/>
          <p:nvPr/>
        </p:nvSpPr>
        <p:spPr>
          <a:xfrm>
            <a:off x="577732" y="3259723"/>
            <a:ext cx="765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REPO LINK: [ALL DETAILS ARE HERE]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061391-6898-DDE3-D0F4-793F20BE7B66}"/>
              </a:ext>
            </a:extLst>
          </p:cNvPr>
          <p:cNvSpPr txBox="1"/>
          <p:nvPr/>
        </p:nvSpPr>
        <p:spPr>
          <a:xfrm>
            <a:off x="577732" y="3900122"/>
            <a:ext cx="6306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linkClick r:id="rId7"/>
              </a:rPr>
              <a:t>https://github.com/priyanraj-hub/rithackathon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576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1232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PRIYANRAJ J</cp:lastModifiedBy>
  <cp:revision>2</cp:revision>
  <dcterms:created xsi:type="dcterms:W3CDTF">2026-07-10T08:47:09Z</dcterms:created>
  <dcterms:modified xsi:type="dcterms:W3CDTF">2026-07-10T16:02:49Z</dcterms:modified>
</cp:coreProperties>
</file>